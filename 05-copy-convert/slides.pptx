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19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ריק">
    <p:bg>
      <p:bgPr>
        <a:solidFill>
          <a:srgbClr val="CEC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ftr" idx="1"/>
          </p:nvPr>
        </p:nvSpPr>
        <p:spPr>
          <a:xfrm>
            <a:off x="0" y="6400800"/>
            <a:ext cx="2641320" cy="4572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Arial Unicode M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Arial Unicode MS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r" rtl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CEC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0" y="6400800"/>
            <a:ext cx="5486040" cy="4572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 anchorCtr="1">
            <a:noAutofit/>
          </a:bodyPr>
          <a:lstStyle/>
          <a:p>
            <a:pPr indent="0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710560" y="6520680"/>
            <a:ext cx="433080" cy="3369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45F3432-E61E-4174-9C96-24F2DD0A6873}" type="slidenum"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r" rtl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">
    <p:bg>
      <p:bgPr>
        <a:solidFill>
          <a:srgbClr val="CEC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ftr" idx="2"/>
          </p:nvPr>
        </p:nvSpPr>
        <p:spPr>
          <a:xfrm>
            <a:off x="0" y="6400800"/>
            <a:ext cx="5486040" cy="4572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 anchorCtr="1">
            <a:noAutofit/>
          </a:bodyPr>
          <a:lstStyle/>
          <a:p>
            <a:pPr indent="0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3"/>
          </p:nvPr>
        </p:nvSpPr>
        <p:spPr>
          <a:xfrm>
            <a:off x="8710560" y="6520680"/>
            <a:ext cx="433080" cy="3369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3D8D43A-BC0A-43B2-8EE6-4D56F551A53A}" type="slidenum"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r" rtl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bg>
      <p:bgPr>
        <a:solidFill>
          <a:srgbClr val="CEC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11040" y="151920"/>
            <a:ext cx="773208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  <a:cs typeface="Tahoma"/>
              </a:rPr>
              <a:t>לחץ כדי לערוך סגנון כותרת של תבנית בסיס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299520" y="1311120"/>
            <a:ext cx="8643600" cy="511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Click to edit the outline text format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Second Outline Level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Third Outline Level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Fourth Outline Level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Fifth Outline Level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Sixth Outline Level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Seventh Outline Level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cs typeface="Tahoma"/>
              </a:rPr>
              <a:t>לחץ כדי לערוך סגנונות טקסט של תבנית בסיס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56000" lvl="7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cs typeface="Tahoma"/>
              </a:rPr>
              <a:t>רמה שנייה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88000" lvl="8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cs typeface="Tahoma"/>
              </a:rPr>
              <a:t>רמה שלישית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0" lvl="0" indent="-216000">
              <a:lnSpc>
                <a:spcPct val="10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cs typeface="Tahoma"/>
              </a:rPr>
              <a:t>רמה רביעית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0" lvl="0" indent="-216000">
              <a:lnSpc>
                <a:spcPct val="100000"/>
              </a:lnSpc>
              <a:spcBef>
                <a:spcPts val="69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cs typeface="Tahoma"/>
              </a:rPr>
              <a:t>רמה חמישית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6"/>
          </p:nvPr>
        </p:nvSpPr>
        <p:spPr>
          <a:xfrm>
            <a:off x="0" y="6400800"/>
            <a:ext cx="5486040" cy="4572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 anchorCtr="1">
            <a:noAutofit/>
          </a:bodyPr>
          <a:lstStyle/>
          <a:p>
            <a:pPr indent="0"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7"/>
          </p:nvPr>
        </p:nvSpPr>
        <p:spPr>
          <a:xfrm>
            <a:off x="8710560" y="6520680"/>
            <a:ext cx="433080" cy="3369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F022B4-B6A3-434B-901D-BE34E823B233}" type="slidenum"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_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8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790C90DC-963E-4CC2-A4EC-EC7BB00DCBB1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3456000" lvl="7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3888000" lvl="8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dt" idx="9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235E874A-65EA-4E52-8702-BE31938D933D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2026-04-12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0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1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5E5C528A-8E28-4D06-9085-CEFF87F1BE0B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C++: copy, assign, convert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כותרת משנה 3"/>
          <p:cNvSpPr txBox="1"/>
          <p:nvPr/>
        </p:nvSpPr>
        <p:spPr>
          <a:xfrm>
            <a:off x="1647000" y="4146480"/>
            <a:ext cx="6400440" cy="1599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Version 1: Dr. Ofir Pele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Version 2: Dr. Erel Segal-Halevi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Shallow vs. Deep Copy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(folder 1)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43900" y="873360"/>
            <a:ext cx="3474720" cy="585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2800" b="1" u="none" strike="noStrike">
                <a:effectLst/>
                <a:uFillTx/>
                <a:latin typeface="Arial"/>
              </a:rPr>
              <a:t>class</a:t>
            </a:r>
            <a:r>
              <a:rPr lang="en-US" sz="2800" b="0" u="none" strike="noStrike">
                <a:effectLst/>
                <a:uFillTx/>
                <a:latin typeface="Arial"/>
              </a:rPr>
              <a:t> IntList {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int* p;</a:t>
            </a:r>
          </a:p>
          <a:p>
            <a:r>
              <a:rPr lang="en-US" sz="2800" b="1" u="none" strike="noStrike">
                <a:effectLst/>
                <a:uFillTx/>
                <a:latin typeface="Arial"/>
              </a:rPr>
              <a:t>public</a:t>
            </a:r>
            <a:r>
              <a:rPr lang="en-US" sz="2800" b="0" u="none" strike="noStrike">
                <a:effectLst/>
                <a:uFillTx/>
                <a:latin typeface="Arial"/>
              </a:rPr>
              <a:t>: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IntList(uint n): 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   p(</a:t>
            </a:r>
            <a:r>
              <a:rPr lang="en-US" sz="2800" b="1" u="none" strike="noStrike">
                <a:effectLst/>
                <a:uFillTx/>
                <a:latin typeface="Arial"/>
              </a:rPr>
              <a:t>new</a:t>
            </a:r>
            <a:r>
              <a:rPr lang="en-US" sz="2800" b="0" u="none" strike="noStrike"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effectLst/>
                <a:uFillTx/>
                <a:latin typeface="Arial"/>
              </a:rPr>
              <a:t>int</a:t>
            </a:r>
            <a:r>
              <a:rPr lang="en-US" sz="2800" b="0" u="none" strike="noStrike">
                <a:effectLst/>
                <a:uFillTx/>
                <a:latin typeface="Arial"/>
              </a:rPr>
              <a:t>[n]) {  }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~IntList() {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   </a:t>
            </a:r>
            <a:r>
              <a:rPr lang="en-US" sz="2800" b="1" u="none" strike="noStrike">
                <a:effectLst/>
                <a:uFillTx/>
                <a:latin typeface="Arial"/>
              </a:rPr>
              <a:t>delete</a:t>
            </a:r>
            <a:r>
              <a:rPr lang="en-US" sz="2800" b="0" u="none" strike="noStrike">
                <a:effectLst/>
                <a:uFillTx/>
                <a:latin typeface="Arial"/>
              </a:rPr>
              <a:t>[] p;  }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};</a:t>
            </a:r>
          </a:p>
          <a:p>
            <a:r>
              <a:rPr lang="en-US" sz="2800" b="1" u="none" strike="noStrike">
                <a:effectLst/>
                <a:uFillTx/>
                <a:latin typeface="Arial"/>
              </a:rPr>
              <a:t>int</a:t>
            </a:r>
            <a:r>
              <a:rPr lang="en-US" sz="2800" b="0" u="none" strike="noStrike">
                <a:effectLst/>
                <a:uFillTx/>
                <a:latin typeface="Arial"/>
              </a:rPr>
              <a:t> main() {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IntList a(3);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IntList b=a;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IntList c(2);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}</a:t>
            </a:r>
          </a:p>
        </p:txBody>
      </p:sp>
      <p:sp>
        <p:nvSpPr>
          <p:cNvPr id="36" name="מציין מיקום של מספר שקופית 4"/>
          <p:cNvSpPr txBox="1"/>
          <p:nvPr/>
        </p:nvSpPr>
        <p:spPr>
          <a:xfrm>
            <a:off x="720" y="672552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748DDD38-AB4E-4048-870D-8DCF5496A4A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7" name="Table 36"/>
          <p:cNvGraphicFramePr/>
          <p:nvPr/>
        </p:nvGraphicFramePr>
        <p:xfrm>
          <a:off x="3631680" y="1030320"/>
          <a:ext cx="5055120" cy="5065560"/>
        </p:xfrm>
        <a:graphic>
          <a:graphicData uri="http://schemas.openxmlformats.org/drawingml/2006/table">
            <a:tbl>
              <a:tblPr/>
              <a:tblGrid>
                <a:gridCol w="13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4120"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66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Stack</a:t>
                      </a:r>
                      <a:endParaRPr lang="en-US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480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Heap</a:t>
                      </a:r>
                      <a:endParaRPr lang="en-US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FFFF"/>
                          </a:solidFill>
                          <a:effectLst/>
                          <a:uFillTx/>
                          <a:latin typeface="Arial"/>
                        </a:rPr>
                        <a:t>`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/>
          <p:nvPr/>
        </p:nvGraphicFramePr>
        <p:xfrm>
          <a:off x="7132320" y="2038320"/>
          <a:ext cx="1188720" cy="10972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28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a.p=123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8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b.p=123</a:t>
                      </a:r>
                    </a:p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c.p=456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/>
          <p:nvPr/>
        </p:nvGraphicFramePr>
        <p:xfrm>
          <a:off x="7458480" y="4757400"/>
          <a:ext cx="1136880" cy="1188720"/>
        </p:xfrm>
        <a:graphic>
          <a:graphicData uri="http://schemas.openxmlformats.org/drawingml/2006/table">
            <a:tbl>
              <a:tblPr/>
              <a:tblGrid>
                <a:gridCol w="113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a.p[0]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a.p[1]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a.p[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" name="Free-form: Shape 39"/>
          <p:cNvSpPr/>
          <p:nvPr/>
        </p:nvSpPr>
        <p:spPr>
          <a:xfrm>
            <a:off x="6302520" y="2251440"/>
            <a:ext cx="1404000" cy="2459520"/>
          </a:xfrm>
          <a:custGeom>
            <a:avLst/>
            <a:gdLst/>
            <a:ahLst/>
            <a:cxnLst/>
            <a:rect l="0" t="0" r="r" b="b"/>
            <a:pathLst>
              <a:path w="3900" h="6832" fill="none">
                <a:moveTo>
                  <a:pt x="2409" y="0"/>
                </a:moveTo>
                <a:cubicBezTo>
                  <a:pt x="1718" y="239"/>
                  <a:pt x="884" y="380"/>
                  <a:pt x="485" y="1058"/>
                </a:cubicBezTo>
                <a:cubicBezTo>
                  <a:pt x="160" y="1610"/>
                  <a:pt x="49" y="2252"/>
                  <a:pt x="3" y="2934"/>
                </a:cubicBezTo>
                <a:cubicBezTo>
                  <a:pt x="-60" y="3866"/>
                  <a:pt x="721" y="4322"/>
                  <a:pt x="1399" y="4569"/>
                </a:cubicBezTo>
                <a:cubicBezTo>
                  <a:pt x="2031" y="4801"/>
                  <a:pt x="2607" y="5168"/>
                  <a:pt x="3227" y="5436"/>
                </a:cubicBezTo>
                <a:cubicBezTo>
                  <a:pt x="3843" y="5703"/>
                  <a:pt x="3839" y="6320"/>
                  <a:pt x="3900" y="6831"/>
                </a:cubicBezTo>
                <a:lnTo>
                  <a:pt x="3660" y="6832"/>
                </a:lnTo>
              </a:path>
            </a:pathLst>
          </a:custGeom>
          <a:ln w="0">
            <a:solidFill>
              <a:srgbClr val="6666FF"/>
            </a:solidFill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Free-form: Shape 40"/>
          <p:cNvSpPr/>
          <p:nvPr/>
        </p:nvSpPr>
        <p:spPr>
          <a:xfrm>
            <a:off x="7689240" y="2632320"/>
            <a:ext cx="902880" cy="2147400"/>
          </a:xfrm>
          <a:custGeom>
            <a:avLst/>
            <a:gdLst/>
            <a:ahLst/>
            <a:cxnLst/>
            <a:rect l="0" t="0" r="r" b="b"/>
            <a:pathLst>
              <a:path w="2508" h="5965" fill="none">
                <a:moveTo>
                  <a:pt x="0" y="0"/>
                </a:moveTo>
                <a:cubicBezTo>
                  <a:pt x="622" y="121"/>
                  <a:pt x="1145" y="509"/>
                  <a:pt x="1684" y="818"/>
                </a:cubicBezTo>
                <a:cubicBezTo>
                  <a:pt x="2286" y="1164"/>
                  <a:pt x="2654" y="1901"/>
                  <a:pt x="2453" y="2598"/>
                </a:cubicBezTo>
                <a:cubicBezTo>
                  <a:pt x="2276" y="3213"/>
                  <a:pt x="2025" y="3806"/>
                  <a:pt x="1636" y="4330"/>
                </a:cubicBezTo>
                <a:cubicBezTo>
                  <a:pt x="1317" y="4760"/>
                  <a:pt x="1068" y="5357"/>
                  <a:pt x="1251" y="5917"/>
                </a:cubicBezTo>
                <a:lnTo>
                  <a:pt x="1251" y="5965"/>
                </a:lnTo>
              </a:path>
            </a:pathLst>
          </a:custGeom>
          <a:ln w="0">
            <a:solidFill>
              <a:srgbClr val="6666FF"/>
            </a:solidFill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" name="Table 41"/>
          <p:cNvGraphicFramePr/>
          <p:nvPr/>
        </p:nvGraphicFramePr>
        <p:xfrm>
          <a:off x="5531760" y="4741920"/>
          <a:ext cx="1137600" cy="792480"/>
        </p:xfrm>
        <a:graphic>
          <a:graphicData uri="http://schemas.openxmlformats.org/drawingml/2006/table">
            <a:tbl>
              <a:tblPr/>
              <a:tblGrid>
                <a:gridCol w="113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c.p[0]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c.p[1]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" name="Free-form: Shape 42"/>
          <p:cNvSpPr/>
          <p:nvPr/>
        </p:nvSpPr>
        <p:spPr>
          <a:xfrm>
            <a:off x="5870880" y="3082680"/>
            <a:ext cx="1577880" cy="1714320"/>
          </a:xfrm>
          <a:custGeom>
            <a:avLst/>
            <a:gdLst/>
            <a:ahLst/>
            <a:cxnLst/>
            <a:rect l="0" t="0" r="r" b="b"/>
            <a:pathLst>
              <a:path w="4383" h="4762" fill="none">
                <a:moveTo>
                  <a:pt x="4377" y="0"/>
                </a:moveTo>
                <a:cubicBezTo>
                  <a:pt x="4399" y="551"/>
                  <a:pt x="4395" y="1214"/>
                  <a:pt x="3800" y="1539"/>
                </a:cubicBezTo>
                <a:cubicBezTo>
                  <a:pt x="3303" y="1810"/>
                  <a:pt x="2808" y="2093"/>
                  <a:pt x="2261" y="2261"/>
                </a:cubicBezTo>
                <a:cubicBezTo>
                  <a:pt x="1689" y="2436"/>
                  <a:pt x="1080" y="2531"/>
                  <a:pt x="577" y="2886"/>
                </a:cubicBezTo>
                <a:cubicBezTo>
                  <a:pt x="-39" y="3321"/>
                  <a:pt x="167" y="4091"/>
                  <a:pt x="48" y="4714"/>
                </a:cubicBezTo>
                <a:lnTo>
                  <a:pt x="0" y="4762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Shallow vs. Deep Copy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(folder 1)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64240" y="774420"/>
            <a:ext cx="3474720" cy="61233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2800" b="1" u="none" strike="noStrike">
                <a:effectLst/>
                <a:uFillTx/>
                <a:latin typeface="Arial"/>
              </a:rPr>
              <a:t>class</a:t>
            </a:r>
            <a:r>
              <a:rPr lang="en-US" sz="2800" b="0" u="none" strike="noStrike">
                <a:effectLst/>
                <a:uFillTx/>
                <a:latin typeface="Arial"/>
              </a:rPr>
              <a:t> IntList {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int* p;</a:t>
            </a:r>
          </a:p>
          <a:p>
            <a:r>
              <a:rPr lang="en-US" sz="2800" b="1" u="none" strike="noStrike">
                <a:effectLst/>
                <a:uFillTx/>
                <a:latin typeface="Arial"/>
              </a:rPr>
              <a:t>public</a:t>
            </a:r>
            <a:r>
              <a:rPr lang="en-US" sz="2800" b="0" u="none" strike="noStrike">
                <a:effectLst/>
                <a:uFillTx/>
                <a:latin typeface="Arial"/>
              </a:rPr>
              <a:t>: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IntList(uint n): 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   p(</a:t>
            </a:r>
            <a:r>
              <a:rPr lang="en-US" sz="2800" b="1" u="none" strike="noStrike">
                <a:effectLst/>
                <a:uFillTx/>
                <a:latin typeface="Arial"/>
              </a:rPr>
              <a:t>new</a:t>
            </a:r>
            <a:r>
              <a:rPr lang="en-US" sz="2800" b="0" u="none" strike="noStrike"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effectLst/>
                <a:uFillTx/>
                <a:latin typeface="Arial"/>
              </a:rPr>
              <a:t>int</a:t>
            </a:r>
            <a:r>
              <a:rPr lang="en-US" sz="2800" b="0" u="none" strike="noStrike">
                <a:effectLst/>
                <a:uFillTx/>
                <a:latin typeface="Arial"/>
              </a:rPr>
              <a:t>[n]) {  }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~IntList() {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   </a:t>
            </a:r>
            <a:r>
              <a:rPr lang="en-US" sz="2800" b="1" u="none" strike="noStrike">
                <a:effectLst/>
                <a:uFillTx/>
                <a:latin typeface="Arial"/>
              </a:rPr>
              <a:t>delete</a:t>
            </a:r>
            <a:r>
              <a:rPr lang="en-US" sz="2800" b="0" u="none" strike="noStrike">
                <a:effectLst/>
                <a:uFillTx/>
                <a:latin typeface="Arial"/>
              </a:rPr>
              <a:t>[] p;  }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};</a:t>
            </a:r>
          </a:p>
          <a:p>
            <a:r>
              <a:rPr lang="en-US" sz="2800" b="1" u="none" strike="noStrike">
                <a:effectLst/>
                <a:uFillTx/>
                <a:latin typeface="Arial"/>
              </a:rPr>
              <a:t>int</a:t>
            </a:r>
            <a:r>
              <a:rPr lang="en-US" sz="2800" b="0" u="none" strike="noStrike">
                <a:effectLst/>
                <a:uFillTx/>
                <a:latin typeface="Arial"/>
              </a:rPr>
              <a:t> main() {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int* p = new int[5];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int* q = p;</a:t>
            </a:r>
          </a:p>
          <a:p>
            <a:pPr>
              <a:lnSpc>
                <a:spcPct val="100000"/>
              </a:lnSpc>
            </a:pPr>
            <a:r>
              <a:rPr lang="en-US" sz="2800" b="0" u="none" strike="noStrike">
                <a:effectLst/>
                <a:uFillTx/>
                <a:latin typeface="Arial"/>
              </a:rPr>
              <a:t>   delete[] q; // OK</a:t>
            </a:r>
          </a:p>
          <a:p>
            <a:pPr>
              <a:lnSpc>
                <a:spcPct val="100000"/>
              </a:lnSpc>
            </a:pPr>
            <a:r>
              <a:rPr lang="en-US" sz="2800" b="0" u="none" strike="noStrike">
                <a:effectLst/>
                <a:uFillTx/>
                <a:latin typeface="Arial"/>
              </a:rPr>
              <a:t>   delete[] p; // Error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}</a:t>
            </a:r>
          </a:p>
        </p:txBody>
      </p:sp>
      <p:sp>
        <p:nvSpPr>
          <p:cNvPr id="46" name="מציין מיקום של מספר שקופית 4"/>
          <p:cNvSpPr txBox="1"/>
          <p:nvPr/>
        </p:nvSpPr>
        <p:spPr>
          <a:xfrm>
            <a:off x="720" y="672552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DC18F55A-567C-46CF-BCD2-270E364E3D71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7" name="Table 46"/>
          <p:cNvGraphicFramePr/>
          <p:nvPr/>
        </p:nvGraphicFramePr>
        <p:xfrm>
          <a:off x="3631680" y="1030320"/>
          <a:ext cx="5055120" cy="5065560"/>
        </p:xfrm>
        <a:graphic>
          <a:graphicData uri="http://schemas.openxmlformats.org/drawingml/2006/table">
            <a:tbl>
              <a:tblPr/>
              <a:tblGrid>
                <a:gridCol w="13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4120"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66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Stack</a:t>
                      </a:r>
                      <a:endParaRPr lang="en-US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480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Heap</a:t>
                      </a:r>
                      <a:endParaRPr lang="en-US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FFFF"/>
                          </a:solidFill>
                          <a:effectLst/>
                          <a:uFillTx/>
                          <a:latin typeface="Arial"/>
                        </a:rPr>
                        <a:t>`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Table 47"/>
          <p:cNvGraphicFramePr/>
          <p:nvPr/>
        </p:nvGraphicFramePr>
        <p:xfrm>
          <a:off x="7132320" y="2038320"/>
          <a:ext cx="548640" cy="10972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28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8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b.p</a:t>
                      </a:r>
                    </a:p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c.p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Table 48"/>
          <p:cNvGraphicFramePr/>
          <p:nvPr/>
        </p:nvGraphicFramePr>
        <p:xfrm>
          <a:off x="7458480" y="4757400"/>
          <a:ext cx="1136880" cy="1188720"/>
        </p:xfrm>
        <a:graphic>
          <a:graphicData uri="http://schemas.openxmlformats.org/drawingml/2006/table">
            <a:tbl>
              <a:tblPr/>
              <a:tblGrid>
                <a:gridCol w="113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a.p[0]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a.p[1]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a.p[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" name="Free-form: Shape 49"/>
          <p:cNvSpPr/>
          <p:nvPr/>
        </p:nvSpPr>
        <p:spPr>
          <a:xfrm>
            <a:off x="6302520" y="2251440"/>
            <a:ext cx="1404000" cy="2459520"/>
          </a:xfrm>
          <a:custGeom>
            <a:avLst/>
            <a:gdLst/>
            <a:ahLst/>
            <a:cxnLst/>
            <a:rect l="0" t="0" r="r" b="b"/>
            <a:pathLst>
              <a:path w="3900" h="6832" fill="none">
                <a:moveTo>
                  <a:pt x="2409" y="0"/>
                </a:moveTo>
                <a:cubicBezTo>
                  <a:pt x="1718" y="239"/>
                  <a:pt x="884" y="380"/>
                  <a:pt x="485" y="1058"/>
                </a:cubicBezTo>
                <a:cubicBezTo>
                  <a:pt x="160" y="1610"/>
                  <a:pt x="49" y="2252"/>
                  <a:pt x="3" y="2934"/>
                </a:cubicBezTo>
                <a:cubicBezTo>
                  <a:pt x="-60" y="3866"/>
                  <a:pt x="721" y="4322"/>
                  <a:pt x="1399" y="4569"/>
                </a:cubicBezTo>
                <a:cubicBezTo>
                  <a:pt x="2031" y="4801"/>
                  <a:pt x="2607" y="5168"/>
                  <a:pt x="3227" y="5436"/>
                </a:cubicBezTo>
                <a:cubicBezTo>
                  <a:pt x="3843" y="5703"/>
                  <a:pt x="3839" y="6320"/>
                  <a:pt x="3900" y="6831"/>
                </a:cubicBezTo>
                <a:lnTo>
                  <a:pt x="3660" y="6832"/>
                </a:lnTo>
              </a:path>
            </a:pathLst>
          </a:custGeom>
          <a:ln w="0">
            <a:solidFill>
              <a:srgbClr val="6666FF"/>
            </a:solidFill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Free-form: Shape 50"/>
          <p:cNvSpPr/>
          <p:nvPr/>
        </p:nvSpPr>
        <p:spPr>
          <a:xfrm>
            <a:off x="7689240" y="2632320"/>
            <a:ext cx="902880" cy="2147400"/>
          </a:xfrm>
          <a:custGeom>
            <a:avLst/>
            <a:gdLst/>
            <a:ahLst/>
            <a:cxnLst/>
            <a:rect l="0" t="0" r="r" b="b"/>
            <a:pathLst>
              <a:path w="2508" h="5965" fill="none">
                <a:moveTo>
                  <a:pt x="0" y="0"/>
                </a:moveTo>
                <a:cubicBezTo>
                  <a:pt x="622" y="121"/>
                  <a:pt x="1145" y="509"/>
                  <a:pt x="1684" y="818"/>
                </a:cubicBezTo>
                <a:cubicBezTo>
                  <a:pt x="2286" y="1164"/>
                  <a:pt x="2654" y="1901"/>
                  <a:pt x="2453" y="2598"/>
                </a:cubicBezTo>
                <a:cubicBezTo>
                  <a:pt x="2276" y="3213"/>
                  <a:pt x="2025" y="3806"/>
                  <a:pt x="1636" y="4330"/>
                </a:cubicBezTo>
                <a:cubicBezTo>
                  <a:pt x="1317" y="4760"/>
                  <a:pt x="1068" y="5357"/>
                  <a:pt x="1251" y="5917"/>
                </a:cubicBezTo>
                <a:lnTo>
                  <a:pt x="1251" y="5965"/>
                </a:lnTo>
              </a:path>
            </a:pathLst>
          </a:custGeom>
          <a:ln w="0">
            <a:solidFill>
              <a:srgbClr val="6666FF"/>
            </a:solidFill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2" name="Table 51"/>
          <p:cNvGraphicFramePr/>
          <p:nvPr/>
        </p:nvGraphicFramePr>
        <p:xfrm>
          <a:off x="5531760" y="4741920"/>
          <a:ext cx="1137600" cy="792480"/>
        </p:xfrm>
        <a:graphic>
          <a:graphicData uri="http://schemas.openxmlformats.org/drawingml/2006/table">
            <a:tbl>
              <a:tblPr/>
              <a:tblGrid>
                <a:gridCol w="113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c.p[0]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c.p[1]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" name="Free-form: Shape 52"/>
          <p:cNvSpPr/>
          <p:nvPr/>
        </p:nvSpPr>
        <p:spPr>
          <a:xfrm>
            <a:off x="5870880" y="3082680"/>
            <a:ext cx="1577880" cy="1714320"/>
          </a:xfrm>
          <a:custGeom>
            <a:avLst/>
            <a:gdLst/>
            <a:ahLst/>
            <a:cxnLst/>
            <a:rect l="0" t="0" r="r" b="b"/>
            <a:pathLst>
              <a:path w="4383" h="4762" fill="none">
                <a:moveTo>
                  <a:pt x="4377" y="0"/>
                </a:moveTo>
                <a:cubicBezTo>
                  <a:pt x="4399" y="551"/>
                  <a:pt x="4395" y="1214"/>
                  <a:pt x="3800" y="1539"/>
                </a:cubicBezTo>
                <a:cubicBezTo>
                  <a:pt x="3303" y="1810"/>
                  <a:pt x="2808" y="2093"/>
                  <a:pt x="2261" y="2261"/>
                </a:cubicBezTo>
                <a:cubicBezTo>
                  <a:pt x="1689" y="2436"/>
                  <a:pt x="1080" y="2531"/>
                  <a:pt x="577" y="2886"/>
                </a:cubicBezTo>
                <a:cubicBezTo>
                  <a:pt x="-39" y="3321"/>
                  <a:pt x="167" y="4091"/>
                  <a:pt x="48" y="4714"/>
                </a:cubicBezTo>
                <a:lnTo>
                  <a:pt x="0" y="4762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Shallow vs. Deep Copy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4300" y="662746"/>
            <a:ext cx="3474720" cy="61233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2800" b="1" u="none" strike="noStrike">
                <a:effectLst/>
                <a:uFillTx/>
                <a:latin typeface="Arial"/>
              </a:rPr>
              <a:t>class</a:t>
            </a:r>
            <a:r>
              <a:rPr lang="en-US" sz="2800" b="0" u="none" strike="noStrike">
                <a:effectLst/>
                <a:uFillTx/>
                <a:latin typeface="Arial"/>
              </a:rPr>
              <a:t> IntList {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int* p;</a:t>
            </a:r>
          </a:p>
          <a:p>
            <a:r>
              <a:rPr lang="en-US" sz="2800" b="1" u="none" strike="noStrike">
                <a:effectLst/>
                <a:uFillTx/>
                <a:latin typeface="Arial"/>
              </a:rPr>
              <a:t>public</a:t>
            </a:r>
            <a:r>
              <a:rPr lang="en-US" sz="2800" b="0" u="none" strike="noStrike">
                <a:effectLst/>
                <a:uFillTx/>
                <a:latin typeface="Arial"/>
              </a:rPr>
              <a:t>: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IntList(uint n): 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   p(</a:t>
            </a:r>
            <a:r>
              <a:rPr lang="en-US" sz="2800" b="1" u="none" strike="noStrike">
                <a:effectLst/>
                <a:uFillTx/>
                <a:latin typeface="Arial"/>
              </a:rPr>
              <a:t>new</a:t>
            </a:r>
            <a:r>
              <a:rPr lang="en-US" sz="2800" b="0" u="none" strike="noStrike">
                <a:effectLst/>
                <a:uFillTx/>
                <a:latin typeface="Arial"/>
              </a:rPr>
              <a:t> </a:t>
            </a:r>
            <a:r>
              <a:rPr lang="en-US" sz="2800" b="1" u="none" strike="noStrike">
                <a:effectLst/>
                <a:uFillTx/>
                <a:latin typeface="Arial"/>
              </a:rPr>
              <a:t>int</a:t>
            </a:r>
            <a:r>
              <a:rPr lang="en-US" sz="2800" b="0" u="none" strike="noStrike">
                <a:effectLst/>
                <a:uFillTx/>
                <a:latin typeface="Arial"/>
              </a:rPr>
              <a:t>[n]) {  }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~IntList() {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   </a:t>
            </a:r>
            <a:r>
              <a:rPr lang="en-US" sz="2800" b="1" u="none" strike="noStrike">
                <a:effectLst/>
                <a:uFillTx/>
                <a:latin typeface="Arial"/>
              </a:rPr>
              <a:t>delete</a:t>
            </a:r>
            <a:r>
              <a:rPr lang="en-US" sz="2800" b="0" u="none" strike="noStrike">
                <a:effectLst/>
                <a:uFillTx/>
                <a:latin typeface="Arial"/>
              </a:rPr>
              <a:t>[] p;  }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};</a:t>
            </a:r>
          </a:p>
          <a:p>
            <a:r>
              <a:rPr lang="en-US" sz="2800" b="1" u="none" strike="noStrike">
                <a:effectLst/>
                <a:uFillTx/>
                <a:latin typeface="Arial"/>
              </a:rPr>
              <a:t>int</a:t>
            </a:r>
            <a:r>
              <a:rPr lang="en-US" sz="2800" b="0" u="none" strike="noStrike">
                <a:effectLst/>
                <a:uFillTx/>
                <a:latin typeface="Arial"/>
              </a:rPr>
              <a:t> main() {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IntList a(3);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IntList b=a;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   IntList c(2); c=a; </a:t>
            </a:r>
            <a:br>
              <a:rPr sz="2800"/>
            </a:br>
            <a:r>
              <a:rPr lang="en-US" sz="2800" b="0" u="none" strike="noStrike">
                <a:effectLst/>
                <a:uFillTx/>
                <a:latin typeface="Arial"/>
              </a:rPr>
              <a:t>       // c.p = a.p</a:t>
            </a:r>
          </a:p>
          <a:p>
            <a:r>
              <a:rPr lang="en-US" sz="2800" b="0" u="none" strike="noStrike">
                <a:effectLst/>
                <a:uFillTx/>
                <a:latin typeface="Arial"/>
              </a:rPr>
              <a:t>}</a:t>
            </a:r>
          </a:p>
        </p:txBody>
      </p:sp>
      <p:sp>
        <p:nvSpPr>
          <p:cNvPr id="56" name="מציין מיקום של מספר שקופית 4"/>
          <p:cNvSpPr txBox="1"/>
          <p:nvPr/>
        </p:nvSpPr>
        <p:spPr>
          <a:xfrm>
            <a:off x="720" y="672552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4773551C-2657-437C-9B3C-A9EA46B9FA4C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7" name="Table 56"/>
          <p:cNvGraphicFramePr/>
          <p:nvPr/>
        </p:nvGraphicFramePr>
        <p:xfrm>
          <a:off x="3631680" y="1030320"/>
          <a:ext cx="5055120" cy="5065560"/>
        </p:xfrm>
        <a:graphic>
          <a:graphicData uri="http://schemas.openxmlformats.org/drawingml/2006/table">
            <a:tbl>
              <a:tblPr/>
              <a:tblGrid>
                <a:gridCol w="13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4120"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66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Stack</a:t>
                      </a:r>
                      <a:endParaRPr lang="en-US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480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Heap</a:t>
                      </a:r>
                      <a:endParaRPr lang="en-US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FFFF"/>
                          </a:solidFill>
                          <a:effectLst/>
                          <a:uFillTx/>
                          <a:latin typeface="Arial"/>
                        </a:rPr>
                        <a:t>`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8" name="Table 57"/>
          <p:cNvGraphicFramePr/>
          <p:nvPr/>
        </p:nvGraphicFramePr>
        <p:xfrm>
          <a:off x="7132320" y="2038320"/>
          <a:ext cx="548640" cy="10972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28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8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b.p</a:t>
                      </a:r>
                    </a:p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c.p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" name="Table 58"/>
          <p:cNvGraphicFramePr/>
          <p:nvPr/>
        </p:nvGraphicFramePr>
        <p:xfrm>
          <a:off x="7458480" y="4757400"/>
          <a:ext cx="1136880" cy="1188720"/>
        </p:xfrm>
        <a:graphic>
          <a:graphicData uri="http://schemas.openxmlformats.org/drawingml/2006/table">
            <a:tbl>
              <a:tblPr/>
              <a:tblGrid>
                <a:gridCol w="113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a.p[0]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a.p[1]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a.p[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0" name="Free-form: Shape 59"/>
          <p:cNvSpPr/>
          <p:nvPr/>
        </p:nvSpPr>
        <p:spPr>
          <a:xfrm>
            <a:off x="6302520" y="2251440"/>
            <a:ext cx="1404000" cy="2459520"/>
          </a:xfrm>
          <a:custGeom>
            <a:avLst/>
            <a:gdLst/>
            <a:ahLst/>
            <a:cxnLst/>
            <a:rect l="0" t="0" r="r" b="b"/>
            <a:pathLst>
              <a:path w="3900" h="6832" fill="none">
                <a:moveTo>
                  <a:pt x="2409" y="0"/>
                </a:moveTo>
                <a:cubicBezTo>
                  <a:pt x="1718" y="239"/>
                  <a:pt x="884" y="380"/>
                  <a:pt x="485" y="1058"/>
                </a:cubicBezTo>
                <a:cubicBezTo>
                  <a:pt x="160" y="1610"/>
                  <a:pt x="49" y="2252"/>
                  <a:pt x="3" y="2934"/>
                </a:cubicBezTo>
                <a:cubicBezTo>
                  <a:pt x="-60" y="3866"/>
                  <a:pt x="721" y="4322"/>
                  <a:pt x="1399" y="4569"/>
                </a:cubicBezTo>
                <a:cubicBezTo>
                  <a:pt x="2031" y="4801"/>
                  <a:pt x="2607" y="5168"/>
                  <a:pt x="3227" y="5436"/>
                </a:cubicBezTo>
                <a:cubicBezTo>
                  <a:pt x="3843" y="5703"/>
                  <a:pt x="3839" y="6320"/>
                  <a:pt x="3900" y="6831"/>
                </a:cubicBezTo>
                <a:lnTo>
                  <a:pt x="3660" y="6832"/>
                </a:lnTo>
              </a:path>
            </a:pathLst>
          </a:custGeom>
          <a:ln w="0">
            <a:solidFill>
              <a:srgbClr val="6666FF"/>
            </a:solidFill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Free-form: Shape 60"/>
          <p:cNvSpPr/>
          <p:nvPr/>
        </p:nvSpPr>
        <p:spPr>
          <a:xfrm>
            <a:off x="7689240" y="2632320"/>
            <a:ext cx="902880" cy="2147400"/>
          </a:xfrm>
          <a:custGeom>
            <a:avLst/>
            <a:gdLst/>
            <a:ahLst/>
            <a:cxnLst/>
            <a:rect l="0" t="0" r="r" b="b"/>
            <a:pathLst>
              <a:path w="2508" h="5965" fill="none">
                <a:moveTo>
                  <a:pt x="0" y="0"/>
                </a:moveTo>
                <a:cubicBezTo>
                  <a:pt x="622" y="121"/>
                  <a:pt x="1145" y="509"/>
                  <a:pt x="1684" y="818"/>
                </a:cubicBezTo>
                <a:cubicBezTo>
                  <a:pt x="2286" y="1164"/>
                  <a:pt x="2654" y="1901"/>
                  <a:pt x="2453" y="2598"/>
                </a:cubicBezTo>
                <a:cubicBezTo>
                  <a:pt x="2276" y="3213"/>
                  <a:pt x="2025" y="3806"/>
                  <a:pt x="1636" y="4330"/>
                </a:cubicBezTo>
                <a:cubicBezTo>
                  <a:pt x="1317" y="4760"/>
                  <a:pt x="1068" y="5357"/>
                  <a:pt x="1251" y="5917"/>
                </a:cubicBezTo>
                <a:lnTo>
                  <a:pt x="1251" y="5965"/>
                </a:lnTo>
              </a:path>
            </a:pathLst>
          </a:custGeom>
          <a:ln w="0">
            <a:solidFill>
              <a:srgbClr val="6666FF"/>
            </a:solidFill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2" name="Table 61"/>
          <p:cNvGraphicFramePr/>
          <p:nvPr/>
        </p:nvGraphicFramePr>
        <p:xfrm>
          <a:off x="5531760" y="4741920"/>
          <a:ext cx="1137600" cy="792480"/>
        </p:xfrm>
        <a:graphic>
          <a:graphicData uri="http://schemas.openxmlformats.org/drawingml/2006/table">
            <a:tbl>
              <a:tblPr/>
              <a:tblGrid>
                <a:gridCol w="113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c.p[0]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c.p[1]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3" name="Free-form: Shape 62"/>
          <p:cNvSpPr/>
          <p:nvPr/>
        </p:nvSpPr>
        <p:spPr>
          <a:xfrm>
            <a:off x="7409160" y="3082680"/>
            <a:ext cx="574560" cy="1714320"/>
          </a:xfrm>
          <a:custGeom>
            <a:avLst/>
            <a:gdLst/>
            <a:ahLst/>
            <a:cxnLst/>
            <a:rect l="0" t="0" r="r" b="b"/>
            <a:pathLst>
              <a:path w="1596" h="4762" fill="none">
                <a:moveTo>
                  <a:pt x="201" y="0"/>
                </a:moveTo>
                <a:cubicBezTo>
                  <a:pt x="-71" y="480"/>
                  <a:pt x="-8" y="1028"/>
                  <a:pt x="56" y="1539"/>
                </a:cubicBezTo>
                <a:cubicBezTo>
                  <a:pt x="138" y="2189"/>
                  <a:pt x="551" y="2750"/>
                  <a:pt x="874" y="3318"/>
                </a:cubicBezTo>
                <a:lnTo>
                  <a:pt x="1162" y="3800"/>
                </a:lnTo>
                <a:lnTo>
                  <a:pt x="1451" y="4378"/>
                </a:lnTo>
                <a:lnTo>
                  <a:pt x="1596" y="4762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/>
          <p:cNvSpPr txBox="1"/>
          <p:nvPr/>
        </p:nvSpPr>
        <p:spPr>
          <a:xfrm>
            <a:off x="475827" y="914040"/>
            <a:ext cx="8503920" cy="572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3600" b="0" u="none" strike="noStrike">
                <a:effectLst/>
                <a:uFillTx/>
                <a:latin typeface="Arial"/>
              </a:rPr>
              <a:t>An object is copied when:</a:t>
            </a:r>
          </a:p>
          <a:p>
            <a:pPr marL="432000" lvl="1" indent="-216000">
              <a:buClr>
                <a:srgbClr val="FFFFFF"/>
              </a:buClr>
              <a:buFont typeface="OpenSymbol"/>
              <a:buAutoNum type="arabicPeriod"/>
            </a:pPr>
            <a:r>
              <a:rPr lang="en-US" sz="3600" b="0" u="none" strike="noStrike">
                <a:solidFill>
                  <a:srgbClr val="0066FF"/>
                </a:solidFill>
                <a:effectLst/>
                <a:uFillTx/>
                <a:latin typeface="Arial"/>
              </a:rPr>
              <a:t>Constructing new object from existing;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buClr>
                <a:srgbClr val="FFFFFF"/>
              </a:buClr>
              <a:buFont typeface="OpenSymbol"/>
              <a:buAutoNum type="arabicPeriod"/>
            </a:pPr>
            <a:r>
              <a:rPr lang="en-US" sz="3600" b="0" u="none" strike="noStrike">
                <a:solidFill>
                  <a:srgbClr val="0066FF"/>
                </a:solidFill>
                <a:effectLst/>
                <a:uFillTx/>
                <a:latin typeface="Arial"/>
              </a:rPr>
              <a:t>Passing parameter by value;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buClr>
                <a:srgbClr val="FFFFFF"/>
              </a:buClr>
              <a:buFont typeface="OpenSymbol"/>
              <a:buAutoNum type="arabicPeriod"/>
            </a:pPr>
            <a:r>
              <a:rPr lang="en-US" sz="3600" b="0" u="none" strike="noStrike">
                <a:solidFill>
                  <a:srgbClr val="0066FF"/>
                </a:solidFill>
                <a:effectLst/>
                <a:uFillTx/>
                <a:latin typeface="Arial"/>
              </a:rPr>
              <a:t>Returning by value;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buClr>
                <a:srgbClr val="FFFFFF"/>
              </a:buClr>
              <a:buFont typeface="OpenSymbol"/>
              <a:buAutoNum type="arabicPeriod"/>
            </a:pPr>
            <a:r>
              <a:rPr lang="en-US" sz="3600" b="0" u="none" strike="noStrike">
                <a:solidFill>
                  <a:srgbClr val="00CC00"/>
                </a:solidFill>
                <a:effectLst/>
                <a:uFillTx/>
                <a:latin typeface="Arial"/>
              </a:rPr>
              <a:t>Assigning existing to existing.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3600" b="0" u="none" strike="noStrike">
                <a:solidFill>
                  <a:srgbClr val="0066FF"/>
                </a:solidFill>
                <a:effectLst/>
                <a:uFillTx/>
                <a:latin typeface="Arial"/>
              </a:rPr>
              <a:t>Cases 1-3 are handled by</a:t>
            </a:r>
            <a:br>
              <a:rPr sz="3600"/>
            </a:br>
            <a:r>
              <a:rPr lang="en-US" sz="3600" b="0" u="none" strike="noStrike">
                <a:solidFill>
                  <a:srgbClr val="0066FF"/>
                </a:solidFill>
                <a:effectLst/>
                <a:uFillTx/>
                <a:latin typeface="Arial"/>
              </a:rPr>
              <a:t>            </a:t>
            </a:r>
            <a:r>
              <a:rPr lang="en-US" sz="3600" b="1" u="none" strike="noStrike">
                <a:solidFill>
                  <a:srgbClr val="0066FF"/>
                </a:solidFill>
                <a:effectLst/>
                <a:uFillTx/>
                <a:latin typeface="Arial"/>
              </a:rPr>
              <a:t>copy constructor</a:t>
            </a:r>
            <a:r>
              <a:rPr lang="en-US" sz="3600" b="0" u="none" strike="noStrike">
                <a:solidFill>
                  <a:srgbClr val="0066FF"/>
                </a:solidFill>
                <a:effectLst/>
                <a:uFillTx/>
                <a:latin typeface="Arial"/>
              </a:rPr>
              <a:t>;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3600" b="0" u="none" strike="noStrike">
                <a:solidFill>
                  <a:srgbClr val="00CC00"/>
                </a:solidFill>
                <a:effectLst/>
                <a:uFillTx/>
                <a:latin typeface="Arial"/>
              </a:rPr>
              <a:t>Case 4 is handled by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3600" b="0" u="none" strike="noStrike">
                <a:solidFill>
                  <a:srgbClr val="00CC00"/>
                </a:solidFill>
                <a:effectLst/>
                <a:uFillTx/>
                <a:latin typeface="Arial"/>
              </a:rPr>
              <a:t>            </a:t>
            </a:r>
            <a:r>
              <a:rPr lang="en-US" sz="3600" b="1" u="none" strike="noStrike">
                <a:solidFill>
                  <a:srgbClr val="00CC00"/>
                </a:solidFill>
                <a:effectLst/>
                <a:uFillTx/>
                <a:latin typeface="Arial"/>
              </a:rPr>
              <a:t>assignment operator</a:t>
            </a:r>
            <a:r>
              <a:rPr lang="en-US" sz="3600" b="0" u="none" strike="noStrike">
                <a:solidFill>
                  <a:srgbClr val="00CC00"/>
                </a:solidFill>
                <a:effectLst/>
                <a:uFillTx/>
                <a:latin typeface="Arial"/>
              </a:rPr>
              <a:t>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3600" b="0" u="none" strike="noStrike">
                <a:solidFill>
                  <a:srgbClr val="CE181E"/>
                </a:solidFill>
                <a:effectLst/>
                <a:uFillTx/>
                <a:latin typeface="Arial"/>
              </a:rPr>
              <a:t>By default, both do </a:t>
            </a:r>
            <a:r>
              <a:rPr lang="en-US" sz="3600" b="1" u="none" strike="noStrike">
                <a:solidFill>
                  <a:srgbClr val="CE181E"/>
                </a:solidFill>
                <a:effectLst/>
                <a:uFillTx/>
                <a:latin typeface="Arial"/>
              </a:rPr>
              <a:t>shallow copy</a:t>
            </a:r>
            <a:r>
              <a:rPr lang="en-US" sz="3600" b="0" u="none" strike="noStrike">
                <a:solidFill>
                  <a:srgbClr val="CE181E"/>
                </a:solidFill>
                <a:effectLst/>
                <a:uFillTx/>
                <a:latin typeface="Arial"/>
              </a:rPr>
              <a:t>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Copying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11040" y="151200"/>
            <a:ext cx="7732080" cy="11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Rule of Three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274320" y="1005840"/>
            <a:ext cx="8643600" cy="546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285480" indent="0">
              <a:lnSpc>
                <a:spcPct val="100000"/>
              </a:lnSpc>
              <a:spcBef>
                <a:spcPts val="694"/>
              </a:spcBef>
              <a:buNone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A rule of thumb: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lvl="1" indent="-28548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When you need to make a deep copy of an object, you need to define all of these: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6640" lvl="2" indent="-51408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Font typeface="OpenSymbol"/>
              <a:buAutoNum type="arabicPeriod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Copy constructor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6640" lvl="2" indent="-51408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Font typeface="OpenSymbol"/>
              <a:buAutoNum type="arabicPeriod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Destructor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6640" lvl="2" indent="-51408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Font typeface="OpenSymbol"/>
              <a:buAutoNum type="arabicPeriod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he-IL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Operator =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lvl="1" indent="-28548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Font typeface="Wingdings" charset="2"/>
              <a:buChar char="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Or in other words: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200" indent="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when you need one, you need all.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מלבן 1"/>
          <p:cNvSpPr/>
          <p:nvPr/>
        </p:nvSpPr>
        <p:spPr>
          <a:xfrm>
            <a:off x="4343400" y="1143000"/>
            <a:ext cx="3885840" cy="2742840"/>
          </a:xfrm>
          <a:prstGeom prst="rect">
            <a:avLst/>
          </a:prstGeom>
          <a:solidFill>
            <a:srgbClr val="CCCCCC"/>
          </a:solidFill>
          <a:ln w="18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720" tIns="54720" rIns="99720" bIns="5472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מלבן 2"/>
          <p:cNvSpPr/>
          <p:nvPr/>
        </p:nvSpPr>
        <p:spPr>
          <a:xfrm>
            <a:off x="228600" y="3993120"/>
            <a:ext cx="8915040" cy="2864520"/>
          </a:xfrm>
          <a:prstGeom prst="rect">
            <a:avLst/>
          </a:prstGeom>
          <a:solidFill>
            <a:srgbClr val="9999FF"/>
          </a:solidFill>
          <a:ln w="18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720" tIns="54720" rIns="99720" bIns="5472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043640" y="123501"/>
            <a:ext cx="773208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A skeleton for deep copy</a:t>
            </a:r>
            <a:r>
              <a:rPr lang="en-US" sz="2600" b="1">
                <a:solidFill>
                  <a:srgbClr val="000099"/>
                </a:solidFill>
                <a:latin typeface="Arial"/>
              </a:rPr>
              <a:t> (folder 1)</a:t>
            </a:r>
            <a:endParaRPr lang="he-IL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1" name="מלבן 4"/>
          <p:cNvSpPr/>
          <p:nvPr/>
        </p:nvSpPr>
        <p:spPr>
          <a:xfrm>
            <a:off x="228600" y="1143000"/>
            <a:ext cx="3885840" cy="2742840"/>
          </a:xfrm>
          <a:prstGeom prst="rect">
            <a:avLst/>
          </a:prstGeom>
          <a:solidFill>
            <a:srgbClr val="99CCFF"/>
          </a:solidFill>
          <a:ln w="18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720" tIns="54720" rIns="99720" bIns="54720" anchor="ctr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226080" y="1114920"/>
            <a:ext cx="8549640" cy="55758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500" b="1" u="none" strike="noStrike">
                <a:solidFill>
                  <a:srgbClr val="FFFF00"/>
                </a:solidFill>
                <a:effectLst/>
                <a:uFillTx/>
                <a:latin typeface="Arial"/>
                <a:ea typeface="MS Gothic"/>
              </a:rPr>
              <a:t>// Copy constructor</a:t>
            </a:r>
            <a:endParaRPr lang="he-IL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A (const A&amp; other) : </a:t>
            </a:r>
            <a:r>
              <a:rPr lang="he-IL" sz="27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init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{</a:t>
            </a:r>
            <a:endParaRPr lang="he-IL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700" b="1" u="none" strike="noStrike">
                <a:solidFill>
                  <a:srgbClr val="0000FF"/>
                </a:solidFill>
                <a:effectLst/>
                <a:uFillTx/>
                <a:latin typeface="Arial"/>
                <a:ea typeface="MS Gothic"/>
              </a:rPr>
              <a:t>copy_other(other);</a:t>
            </a:r>
            <a:endParaRPr lang="he-IL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{</a:t>
            </a:r>
            <a:endParaRPr lang="he-IL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endParaRPr lang="he-I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endParaRPr lang="he-I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endParaRPr lang="he-I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endParaRPr lang="he-I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500" b="1" u="none" strike="noStrike">
                <a:solidFill>
                  <a:srgbClr val="FFFF00"/>
                </a:solidFill>
                <a:effectLst/>
                <a:uFillTx/>
                <a:latin typeface="Arial"/>
                <a:ea typeface="MS Gothic"/>
              </a:rPr>
              <a:t>// </a:t>
            </a:r>
            <a:r>
              <a:rPr lang="he-IL" sz="2700" b="1" u="none" strike="noStrike">
                <a:solidFill>
                  <a:srgbClr val="FFFF00"/>
                </a:solidFill>
                <a:effectLst/>
                <a:uFillTx/>
                <a:latin typeface="Arial"/>
                <a:ea typeface="MS Gothic"/>
              </a:rPr>
              <a:t>Operator = </a:t>
            </a:r>
            <a:r>
              <a:rPr lang="he-IL" sz="800" b="1" u="none" strike="noStrike">
                <a:solidFill>
                  <a:srgbClr val="FFFF00"/>
                </a:solidFill>
                <a:effectLst/>
                <a:uFillTx/>
                <a:latin typeface="Arial"/>
                <a:ea typeface="MS Gothic"/>
              </a:rPr>
              <a:t> </a:t>
            </a:r>
            <a:endParaRPr lang="he-I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A&amp; operator=(const A&amp; other(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{</a:t>
            </a:r>
            <a:endParaRPr lang="he-IL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if (this!=&amp;other) { </a:t>
            </a:r>
            <a:r>
              <a:rPr lang="he-IL" sz="2700" b="1" u="none" strike="noStrike">
                <a:solidFill>
                  <a:srgbClr val="FFFF00"/>
                </a:solidFill>
                <a:effectLst/>
                <a:uFillTx/>
                <a:latin typeface="Arial"/>
                <a:ea typeface="MS Gothic"/>
              </a:rPr>
              <a:t>// preventing problems in a=a</a:t>
            </a:r>
            <a:endParaRPr lang="he-IL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700" b="1" u="none" strike="noStrike">
                <a:solidFill>
                  <a:srgbClr val="FF0000"/>
                </a:solidFill>
                <a:effectLst/>
                <a:uFillTx/>
                <a:latin typeface="Arial"/>
                <a:ea typeface="MS Gothic"/>
              </a:rPr>
              <a:t>  clear(); </a:t>
            </a:r>
            <a:r>
              <a:rPr lang="he-IL" sz="27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init</a:t>
            </a:r>
            <a:r>
              <a:rPr lang="he-IL" sz="2700" b="1" u="none" strike="noStrike">
                <a:solidFill>
                  <a:srgbClr val="FF0000"/>
                </a:solidFill>
                <a:effectLst/>
                <a:uFillTx/>
                <a:latin typeface="Arial"/>
                <a:ea typeface="MS Gothic"/>
              </a:rPr>
              <a:t> </a:t>
            </a:r>
            <a:r>
              <a:rPr lang="he-IL" sz="2700" b="1" u="none" strike="noStrike">
                <a:solidFill>
                  <a:srgbClr val="002060"/>
                </a:solidFill>
                <a:effectLst/>
                <a:uFillTx/>
                <a:latin typeface="Arial"/>
                <a:ea typeface="MS Gothic"/>
              </a:rPr>
              <a:t>// or recycle</a:t>
            </a:r>
            <a:endParaRPr lang="he-IL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700" b="1" u="none" strike="noStrike">
                <a:solidFill>
                  <a:srgbClr val="0000FF"/>
                </a:solidFill>
                <a:effectLst/>
                <a:uFillTx/>
                <a:latin typeface="Arial"/>
                <a:ea typeface="MS Gothic"/>
              </a:rPr>
              <a:t>  copy_other(other);</a:t>
            </a:r>
            <a:endParaRPr lang="he-IL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} return *this; } </a:t>
            </a:r>
            <a:r>
              <a:rPr lang="he-IL" sz="2700" b="1" u="none" strike="noStrike">
                <a:solidFill>
                  <a:srgbClr val="FFFF00"/>
                </a:solidFill>
                <a:effectLst/>
                <a:uFillTx/>
                <a:latin typeface="Arial"/>
                <a:ea typeface="MS Gothic"/>
              </a:rPr>
              <a:t>// allows a= b= c= …</a:t>
            </a:r>
            <a:endParaRPr lang="he-IL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428000" y="1114920"/>
            <a:ext cx="3024000" cy="29310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700" b="1" u="none" strike="noStrike">
                <a:solidFill>
                  <a:srgbClr val="FFFF00"/>
                </a:solidFill>
                <a:effectLst/>
                <a:uFillTx/>
                <a:latin typeface="Arial"/>
                <a:ea typeface="MS Gothic"/>
              </a:rPr>
              <a:t>// Destructor</a:t>
            </a:r>
            <a:endParaRPr lang="he-IL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~A() 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{</a:t>
            </a:r>
            <a:endParaRPr lang="he-IL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700" b="1" u="none" strike="noStrike">
                <a:solidFill>
                  <a:srgbClr val="FF0000"/>
                </a:solidFill>
                <a:effectLst/>
                <a:uFillTx/>
                <a:latin typeface="Arial"/>
                <a:ea typeface="MS Gothic"/>
              </a:rPr>
              <a:t>clear();</a:t>
            </a:r>
            <a:endParaRPr lang="he-IL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}</a:t>
            </a:r>
            <a:endParaRPr lang="he-IL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מציין מיקום של מספר שקופית 2"/>
          <p:cNvSpPr/>
          <p:nvPr/>
        </p:nvSpPr>
        <p:spPr>
          <a:xfrm>
            <a:off x="8710560" y="6520680"/>
            <a:ext cx="43308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5D34750F-0C03-4D3A-8388-42BF7B430CC0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05960" y="291221"/>
            <a:ext cx="7732080" cy="11079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Conversions of types</a:t>
            </a:r>
            <a:br>
              <a:rPr sz="3600"/>
            </a:br>
            <a:r>
              <a:rPr lang="en-US" sz="36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D</a:t>
            </a:r>
            <a:r>
              <a:rPr lang="en-US" sz="3600">
                <a:solidFill>
                  <a:srgbClr val="000099"/>
                </a:solidFill>
                <a:latin typeface="Arial"/>
              </a:rPr>
              <a:t>o</a:t>
            </a:r>
            <a:r>
              <a:rPr lang="he-IL" sz="36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ne in two cases:</a:t>
            </a:r>
            <a:r>
              <a:rPr lang="en-US" sz="3600" b="0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 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6960" y="1666720"/>
            <a:ext cx="8643600" cy="42442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990360" lvl="1" indent="-514080" rtl="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Font typeface="OpenSymbol"/>
              <a:buAutoNum type="arabicPeriod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Explicit casting;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90360" lvl="1" indent="-514080" rtl="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buFont typeface="OpenSymbol"/>
              <a:buAutoNum type="arabicPeriod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Implicit casting - when a function gets </a:t>
            </a: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X 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type while it was expecting to get </a:t>
            </a:r>
            <a:r>
              <a:rPr lang="he-IL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Y 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type, and there is a casting from </a:t>
            </a: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X 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to</a:t>
            </a: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 </a:t>
            </a:r>
            <a:r>
              <a:rPr lang="he-IL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Y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:</a:t>
            </a:r>
          </a:p>
          <a:p>
            <a:pPr marL="476280" lvl="1" rtl="0">
              <a:lnSpc>
                <a:spcPct val="100000"/>
              </a:lnSpc>
              <a:spcBef>
                <a:spcPts val="694"/>
              </a:spcBef>
              <a:buClr>
                <a:srgbClr val="474747"/>
              </a:buClr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200" indent="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	void foo(</a:t>
            </a:r>
            <a:r>
              <a:rPr lang="he-IL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Y y</a:t>
            </a:r>
            <a:r>
              <a:rPr lang="en-US" sz="2800">
                <a:solidFill>
                  <a:srgbClr val="000000"/>
                </a:solidFill>
                <a:latin typeface="Arial"/>
                <a:ea typeface="MS Gothic"/>
              </a:rPr>
              <a:t>)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200" indent="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	...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200" indent="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	X x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;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200" indent="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	foo(x); // a conversion from </a:t>
            </a: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X </a:t>
            </a: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to</a:t>
            </a: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 </a:t>
            </a:r>
            <a:r>
              <a:rPr lang="he-IL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Y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is done.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מציין מיקום של מספר שקופית 2"/>
          <p:cNvSpPr/>
          <p:nvPr/>
        </p:nvSpPr>
        <p:spPr>
          <a:xfrm>
            <a:off x="8710560" y="6520680"/>
            <a:ext cx="43308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7B2CA60-E9AC-452F-9A70-85ECD8537955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211040" y="446781"/>
            <a:ext cx="773208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User defined conversion</a:t>
            </a:r>
            <a:r>
              <a:rPr lang="en-US" sz="28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 (folder 5)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271440" y="1127160"/>
            <a:ext cx="8643600" cy="568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class Fraction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{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...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// double --&gt; Fraction conversion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Fraction (const double&amp; d</a:t>
            </a:r>
            <a:r>
              <a:rPr lang="en-US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) {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indent="-19044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...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08000"/>
                </a:solidFill>
                <a:effectLst/>
                <a:uFillTx/>
                <a:latin typeface="Arial"/>
                <a:ea typeface="MS Gothic"/>
              </a:rPr>
              <a:t>}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...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// Fraction --&gt; double conversion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operator double() const </a:t>
            </a:r>
            <a:r>
              <a:rPr lang="en-US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 {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indent="-19044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...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{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1760" indent="-285480"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...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 }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מציין מיקום של מספר שקופית 2"/>
          <p:cNvSpPr/>
          <p:nvPr/>
        </p:nvSpPr>
        <p:spPr>
          <a:xfrm>
            <a:off x="8710560" y="6520680"/>
            <a:ext cx="43308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9EF32A10-87F4-4717-915A-63E305DE08DA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51640" y="196200"/>
            <a:ext cx="936072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Conversions danger: </a:t>
            </a:r>
            <a:br>
              <a:rPr sz="3600"/>
            </a:b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	unexpected behavior</a:t>
            </a:r>
            <a:br>
              <a:rPr sz="3600"/>
            </a:b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 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299520" y="1311120"/>
            <a:ext cx="8643600" cy="567078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B050"/>
                </a:solidFill>
                <a:effectLst/>
                <a:uFillTx/>
                <a:latin typeface="Arial"/>
                <a:ea typeface="MS Gothic"/>
              </a:rPr>
              <a:t>Vector</a:t>
            </a: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(</a:t>
            </a:r>
            <a:r>
              <a:rPr lang="he-IL" sz="2800" b="1" u="none" strike="noStrike">
                <a:solidFill>
                  <a:srgbClr val="7030A0"/>
                </a:solidFill>
                <a:effectLst/>
                <a:uFillTx/>
                <a:latin typeface="Arial"/>
                <a:ea typeface="MS Gothic"/>
              </a:rPr>
              <a:t>size_t length</a:t>
            </a: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) // ctor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…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int sum(</a:t>
            </a:r>
            <a:r>
              <a:rPr lang="he-IL" sz="2800" b="1" u="none" strike="noStrike">
                <a:solidFill>
                  <a:srgbClr val="00B050"/>
                </a:solidFill>
                <a:effectLst/>
                <a:uFillTx/>
                <a:latin typeface="Arial"/>
                <a:ea typeface="MS Gothic"/>
              </a:rPr>
              <a:t>const Vector&amp; v</a:t>
            </a: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) // function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...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int i=3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;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sum(</a:t>
            </a:r>
            <a:r>
              <a:rPr lang="he-IL" sz="2800" b="1" u="none" strike="noStrike">
                <a:solidFill>
                  <a:srgbClr val="7030A0"/>
                </a:solidFill>
                <a:effectLst/>
                <a:uFillTx/>
                <a:latin typeface="Arial"/>
                <a:ea typeface="MS Gothic"/>
              </a:rPr>
              <a:t>i</a:t>
            </a: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)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;  </a:t>
            </a: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 </a:t>
            </a:r>
            <a:r>
              <a:rPr lang="he-IL" sz="2800" b="1" u="none" strike="noStrike">
                <a:solidFill>
                  <a:srgbClr val="FF0000"/>
                </a:solidFill>
                <a:effectLst/>
                <a:uFillTx/>
                <a:latin typeface="Arial"/>
                <a:ea typeface="MS Gothic"/>
              </a:rPr>
              <a:t>// Equivalent to: sum</a:t>
            </a: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(Vector</a:t>
            </a:r>
            <a:r>
              <a:rPr lang="he-IL" sz="2800" b="1" u="none" strike="noStrike">
                <a:solidFill>
                  <a:srgbClr val="00B050"/>
                </a:solidFill>
                <a:effectLst/>
                <a:uFillTx/>
                <a:latin typeface="Arial"/>
                <a:ea typeface="MS Gothic"/>
              </a:rPr>
              <a:t>(</a:t>
            </a:r>
            <a:r>
              <a:rPr lang="he-IL" sz="2800" b="1" u="none" strike="noStrike">
                <a:solidFill>
                  <a:srgbClr val="7030A0"/>
                </a:solidFill>
                <a:effectLst/>
                <a:uFillTx/>
                <a:latin typeface="Arial"/>
                <a:ea typeface="MS Gothic"/>
              </a:rPr>
              <a:t>i</a:t>
            </a:r>
            <a:r>
              <a:rPr lang="he-IL" sz="2800" b="1" u="none" strike="noStrike">
                <a:solidFill>
                  <a:srgbClr val="00B050"/>
                </a:solidFill>
                <a:effectLst/>
                <a:uFillTx/>
                <a:latin typeface="Arial"/>
                <a:ea typeface="MS Gothic"/>
              </a:rPr>
              <a:t>)</a:t>
            </a: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)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FF0000"/>
                </a:solidFill>
                <a:effectLst/>
                <a:uFillTx/>
                <a:latin typeface="Arial"/>
                <a:ea typeface="MS Gothic"/>
              </a:rPr>
              <a:t>// Did the user really wanted this?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The Vector and the size_t objects are not logically the same objects!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מציין מיקום של מספר שקופית 2"/>
          <p:cNvSpPr/>
          <p:nvPr/>
        </p:nvSpPr>
        <p:spPr>
          <a:xfrm>
            <a:off x="8710560" y="6520680"/>
            <a:ext cx="43308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FFD93E13-0775-4D91-8887-9B5ACA9E172B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51640" y="742341"/>
            <a:ext cx="779508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The </a:t>
            </a: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Courier New"/>
              </a:rPr>
              <a:t>explicit </a:t>
            </a:r>
            <a:r>
              <a:rPr lang="he-IL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keyword</a:t>
            </a:r>
            <a:r>
              <a:rPr lang="en-US" sz="2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 (folder 4)</a:t>
            </a:r>
            <a:endParaRPr lang="he-IL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299520" y="1311120"/>
            <a:ext cx="8643600" cy="45961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explicit </a:t>
            </a:r>
            <a:r>
              <a:rPr lang="he-IL" sz="2800" b="1" u="none" strike="noStrike">
                <a:solidFill>
                  <a:srgbClr val="00B050"/>
                </a:solidFill>
                <a:effectLst/>
                <a:uFillTx/>
                <a:latin typeface="Arial"/>
                <a:ea typeface="MS Gothic"/>
              </a:rPr>
              <a:t>Vector</a:t>
            </a: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(</a:t>
            </a:r>
            <a:r>
              <a:rPr lang="he-IL" sz="2800" b="1" u="none" strike="noStrike">
                <a:solidFill>
                  <a:srgbClr val="7030A0"/>
                </a:solidFill>
                <a:effectLst/>
                <a:uFillTx/>
                <a:latin typeface="Arial"/>
                <a:ea typeface="MS Gothic"/>
              </a:rPr>
              <a:t>size_t length</a:t>
            </a: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) // ctor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480" indent="-28512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…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int sum(</a:t>
            </a:r>
            <a:r>
              <a:rPr lang="he-IL" sz="2800" b="1" u="none" strike="noStrike">
                <a:solidFill>
                  <a:srgbClr val="00B050"/>
                </a:solidFill>
                <a:effectLst/>
                <a:uFillTx/>
                <a:latin typeface="Arial"/>
                <a:ea typeface="MS Gothic"/>
              </a:rPr>
              <a:t>const Vector&amp; v</a:t>
            </a: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) // function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...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int i=3</a:t>
            </a:r>
            <a:r>
              <a:rPr lang="en-US" sz="2800" b="1">
                <a:solidFill>
                  <a:srgbClr val="000000"/>
                </a:solidFill>
                <a:latin typeface="Arial"/>
                <a:ea typeface="MS Gothic"/>
              </a:rPr>
              <a:t>;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sum(</a:t>
            </a:r>
            <a:r>
              <a:rPr lang="he-IL" sz="2800" b="1" u="none" strike="noStrike">
                <a:solidFill>
                  <a:srgbClr val="7030A0"/>
                </a:solidFill>
                <a:effectLst/>
                <a:uFillTx/>
                <a:latin typeface="Arial"/>
                <a:ea typeface="MS Gothic"/>
              </a:rPr>
              <a:t>i</a:t>
            </a: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)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;     </a:t>
            </a: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 </a:t>
            </a:r>
            <a:r>
              <a:rPr lang="he-IL" sz="2800" b="1" u="none" strike="noStrike">
                <a:solidFill>
                  <a:srgbClr val="FF0000"/>
                </a:solidFill>
                <a:effectLst/>
                <a:uFillTx/>
                <a:latin typeface="Arial"/>
                <a:ea typeface="MS Gothic"/>
              </a:rPr>
              <a:t>// Won’t compile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sum(Vector{</a:t>
            </a:r>
            <a:r>
              <a:rPr lang="he-IL" sz="2800" b="1" u="none" strike="noStrike">
                <a:solidFill>
                  <a:srgbClr val="7030A0"/>
                </a:solidFill>
                <a:effectLst/>
                <a:uFillTx/>
                <a:latin typeface="Arial"/>
                <a:ea typeface="MS Gothic"/>
              </a:rPr>
              <a:t>i}</a:t>
            </a:r>
            <a:r>
              <a:rPr lang="he-IL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)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;   </a:t>
            </a:r>
            <a:r>
              <a:rPr lang="he-IL" sz="2800" b="1" u="none" strike="noStrike">
                <a:solidFill>
                  <a:srgbClr val="800080"/>
                </a:solidFill>
                <a:effectLst/>
                <a:uFillTx/>
                <a:latin typeface="Arial"/>
                <a:ea typeface="MS Gothic"/>
              </a:rPr>
              <a:t> </a:t>
            </a:r>
            <a:r>
              <a:rPr lang="he-IL" sz="2800" b="1" u="none" strike="noStrike">
                <a:solidFill>
                  <a:srgbClr val="FF0000"/>
                </a:solidFill>
                <a:effectLst/>
                <a:uFillTx/>
                <a:latin typeface="Arial"/>
                <a:ea typeface="MS Gothic"/>
              </a:rPr>
              <a:t>// compiles</a:t>
            </a: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94"/>
              </a:spcBef>
              <a:buNone/>
              <a:tabLst>
                <a:tab pos="0" algn="l"/>
              </a:tabLst>
            </a:pPr>
            <a:endParaRPr lang="he-I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5113</TotalTime>
  <Words>822</Words>
  <Application>Microsoft Office PowerPoint</Application>
  <PresentationFormat>On-screen Show (4:3)</PresentationFormat>
  <Paragraphs>165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Comic Sans MS</vt:lpstr>
      <vt:lpstr>Courier New</vt:lpstr>
      <vt:lpstr>OpenSymbol</vt:lpstr>
      <vt:lpstr>Symbol</vt:lpstr>
      <vt:lpstr>Times New Roman</vt:lpstr>
      <vt:lpstr>Wingdings</vt:lpstr>
      <vt:lpstr>Office</vt:lpstr>
      <vt:lpstr>C++: copy, assign, convert</vt:lpstr>
      <vt:lpstr>Shallow vs. Deep Copy (folder 1)</vt:lpstr>
      <vt:lpstr>Shallow vs. Deep Copy (folder 1)</vt:lpstr>
      <vt:lpstr>Shallow vs. Deep Copy</vt:lpstr>
      <vt:lpstr>Copying</vt:lpstr>
      <vt:lpstr>Rule of Three</vt:lpstr>
      <vt:lpstr>A skeleton for deep copy (folder 1)</vt:lpstr>
      <vt:lpstr>Conversions of types Done in two cases: </vt:lpstr>
      <vt:lpstr>User defined conversion (folder 5)</vt:lpstr>
      <vt:lpstr>Conversions danger:   unexpected behavior  </vt:lpstr>
      <vt:lpstr>The explicit keyword (folder 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Nir Friedman</dc:creator>
  <dc:description/>
  <cp:lastModifiedBy>Erel Segal-Halevi</cp:lastModifiedBy>
  <cp:revision>792</cp:revision>
  <cp:lastPrinted>2006-12-12T13:43:12Z</cp:lastPrinted>
  <dcterms:created xsi:type="dcterms:W3CDTF">2002-10-18T11:19:22Z</dcterms:created>
  <dcterms:modified xsi:type="dcterms:W3CDTF">2026-04-12T17:56:13Z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Info 1">
    <vt:lpwstr/>
  </property>
  <property fmtid="{D5CDD505-2E9C-101B-9397-08002B2CF9AE}" pid="5" name="Info 2">
    <vt:lpwstr/>
  </property>
  <property fmtid="{D5CDD505-2E9C-101B-9397-08002B2CF9AE}" pid="6" name="Info 3">
    <vt:lpwstr/>
  </property>
  <property fmtid="{D5CDD505-2E9C-101B-9397-08002B2CF9AE}" pid="7" name="Info 4">
    <vt:lpwstr/>
  </property>
  <property fmtid="{D5CDD505-2E9C-101B-9397-08002B2CF9AE}" pid="8" name="LinksUpToDate">
    <vt:bool>false</vt:bool>
  </property>
  <property fmtid="{D5CDD505-2E9C-101B-9397-08002B2CF9AE}" pid="9" name="MMClips">
    <vt:r8>0</vt:r8>
  </property>
  <property fmtid="{D5CDD505-2E9C-101B-9397-08002B2CF9AE}" pid="10" name="Notes">
    <vt:r8>39</vt:r8>
  </property>
  <property fmtid="{D5CDD505-2E9C-101B-9397-08002B2CF9AE}" pid="11" name="PresentationFormat">
    <vt:lpwstr>On-screen Show (4:3)</vt:lpwstr>
  </property>
  <property fmtid="{D5CDD505-2E9C-101B-9397-08002B2CF9AE}" pid="12" name="ScaleCrop">
    <vt:bool>false</vt:bool>
  </property>
  <property fmtid="{D5CDD505-2E9C-101B-9397-08002B2CF9AE}" pid="13" name="ShareDoc">
    <vt:bool>false</vt:bool>
  </property>
  <property fmtid="{D5CDD505-2E9C-101B-9397-08002B2CF9AE}" pid="14" name="Slides">
    <vt:r8>40</vt:r8>
  </property>
</Properties>
</file>