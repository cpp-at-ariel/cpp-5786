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228E87-2AE0-4ECC-83E7-A1339BF10E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מלבן 1"/>
          <p:cNvSpPr/>
          <p:nvPr/>
        </p:nvSpPr>
        <p:spPr>
          <a:xfrm>
            <a:off x="1143000" y="685800"/>
            <a:ext cx="4571640" cy="3428640"/>
          </a:xfrm>
          <a:prstGeom prst="rect">
            <a:avLst/>
          </a:pr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ריק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0" y="6400800"/>
            <a:ext cx="264132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Arial Unicode M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Arial Unicode MS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2"/>
          </p:nvPr>
        </p:nvSpPr>
        <p:spPr>
          <a:xfrm>
            <a:off x="0" y="6400800"/>
            <a:ext cx="54860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/>
          <a:p>
            <a:pPr indent="0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3"/>
          </p:nvPr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086C4-8819-4616-A6B3-96098227400A}" type="slidenum"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של כותרת תחתונה 1"/>
          <p:cNvSpPr/>
          <p:nvPr/>
        </p:nvSpPr>
        <p:spPr>
          <a:xfrm>
            <a:off x="0" y="6400800"/>
            <a:ext cx="26413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160" tIns="46080" rIns="92160" bIns="46080" anchor="ctr" anchorCtr="1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Arial Unicode MS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19920" y="1649880"/>
            <a:ext cx="5922360" cy="277020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ctr" anchorCtr="1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44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Operator overloading</a:t>
            </a:r>
            <a:endParaRPr lang="he-IL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כותרת משנה 3"/>
          <p:cNvSpPr txBox="1"/>
          <p:nvPr/>
        </p:nvSpPr>
        <p:spPr>
          <a:xfrm>
            <a:off x="1828800" y="480096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 2: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1040" y="106560"/>
            <a:ext cx="7732080" cy="123372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Operator Overloading - functions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266759" y="1397159"/>
            <a:ext cx="8614773" cy="4039032"/>
          </a:xfrm>
          <a:prstGeom prst="rect">
            <a:avLst/>
          </a:prstGeom>
          <a:noFill/>
          <a:ln w="0">
            <a:noFill/>
          </a:ln>
        </p:spPr>
        <p:txBody>
          <a:bodyPr wrap="square" lIns="90360" tIns="44280" rIns="90360" bIns="44280" anchor="t">
            <a:spAutoFit/>
          </a:bodyPr>
          <a:lstStyle/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Operators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* - + / …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are actually 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functions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, and can be overloaded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Can be overloaded as functions for existing classes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(folder 0):</a:t>
            </a:r>
          </a:p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br>
              <a:rPr sz="2800"/>
            </a:b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string operator* (string s, int n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){</a:t>
            </a:r>
          </a:p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1">
                <a:solidFill>
                  <a:srgbClr val="000000"/>
                </a:solidFill>
                <a:latin typeface="Courier New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0">
              <a:lnSpc>
                <a:spcPct val="9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}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11040" y="106560"/>
            <a:ext cx="7732080" cy="1233720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Operator Overloading - methods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66760" y="1397160"/>
            <a:ext cx="8420040" cy="4333151"/>
          </a:xfrm>
          <a:prstGeom prst="rect">
            <a:avLst/>
          </a:prstGeom>
          <a:noFill/>
          <a:ln w="0">
            <a:noFill/>
          </a:ln>
        </p:spPr>
        <p:txBody>
          <a:bodyPr lIns="90360" tIns="44280" rIns="90360" bIns="44280" anchor="t">
            <a:spAutoFit/>
          </a:bodyPr>
          <a:lstStyle/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Operators can be overloaded as 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methods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too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(folder 1):</a:t>
            </a:r>
          </a:p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br>
              <a:rPr sz="2800"/>
            </a:b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class Complex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 {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90000"/>
              </a:lnSpc>
              <a:spcBef>
                <a:spcPts val="694"/>
              </a:spcBef>
              <a:buClr>
                <a:srgbClr val="474747"/>
              </a:buClr>
              <a:buSzPct val="45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   Complex operator* (Complex b</a:t>
            </a:r>
            <a:r>
              <a:rPr lang="en-US" sz="2800" b="1">
                <a:solidFill>
                  <a:srgbClr val="000000"/>
                </a:solidFill>
                <a:latin typeface="Courier New"/>
                <a:ea typeface="MS Gothic"/>
              </a:rPr>
              <a:t>) {…}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0">
              <a:lnSpc>
                <a:spcPct val="9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1">
                <a:solidFill>
                  <a:srgbClr val="000000"/>
                </a:solidFill>
                <a:latin typeface="Courier New"/>
                <a:ea typeface="MS Gothic"/>
              </a:rPr>
              <a:t>}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0">
              <a:lnSpc>
                <a:spcPct val="9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br>
              <a:rPr sz="2800"/>
            </a:br>
            <a:r>
              <a:rPr lang="he-IL" sz="2800" b="0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Note the different number of arguments</a:t>
            </a:r>
            <a:r>
              <a:rPr lang="en-US" sz="2800" b="0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: </a:t>
            </a:r>
            <a:r>
              <a:rPr lang="he-IL" sz="2800" b="0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 2 vs. 1</a:t>
            </a:r>
            <a:r>
              <a:rPr lang="en-US" sz="2800">
                <a:solidFill>
                  <a:srgbClr val="0000CC"/>
                </a:solidFill>
                <a:latin typeface="Arial"/>
                <a:ea typeface="MS Gothic"/>
              </a:rPr>
              <a:t>.</a:t>
            </a:r>
            <a:br>
              <a:rPr sz="2800"/>
            </a:br>
            <a:endParaRPr lang="en-US" sz="2800"/>
          </a:p>
          <a:p>
            <a:pPr marL="285480" indent="0">
              <a:lnSpc>
                <a:spcPct val="9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"</a:t>
            </a:r>
            <a:r>
              <a:rPr lang="he-IL" sz="2800" b="1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this</a:t>
            </a:r>
            <a:r>
              <a:rPr lang="he-IL" sz="2800" b="0" u="none" strike="noStrike">
                <a:solidFill>
                  <a:srgbClr val="0000CC"/>
                </a:solidFill>
                <a:effectLst/>
                <a:uFillTx/>
                <a:latin typeface="Arial"/>
                <a:ea typeface="MS Gothic"/>
              </a:rPr>
              <a:t>" is always the first argument.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180360"/>
            <a:ext cx="7772040" cy="1238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Invoking an Overloaded Operator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33160" y="1981080"/>
            <a:ext cx="8040960" cy="2558074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Operator can be invoked as a member function: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en-US" sz="2800" b="1">
                <a:solidFill>
                  <a:srgbClr val="800080"/>
                </a:solidFill>
                <a:latin typeface="Courier New"/>
                <a:ea typeface="MS Gothic"/>
              </a:rPr>
              <a:t>object1.operator*(object2);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It can also be used in more conventional manner: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2680" indent="-285120">
              <a:spcBef>
                <a:spcPts val="694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urier New"/>
                <a:ea typeface="MS Gothic"/>
              </a:rPr>
              <a:t>object1*object2;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11040" y="151200"/>
            <a:ext cx="773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What is it good for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51640" y="1124640"/>
            <a:ext cx="8643600" cy="618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Natural usage.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compare: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lvl="1" indent="-2854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a.set( add(b,c) )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19044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5000"/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to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lvl="1" indent="-2854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a= b+c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compare: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lvl="1" indent="-2854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Arial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v.elementAt(i)= 3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19044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5000"/>
              <a:buFont typeface="Arial"/>
              <a:buChar char="•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to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v[i]= 3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ציין מיקום של מספר שקופית 2"/>
          <p:cNvSpPr/>
          <p:nvPr/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91DCACB6-D51D-4FA4-8AAD-83956B5CD41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48640" y="446781"/>
            <a:ext cx="839448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Operators ++ -- postfix prefix</a:t>
            </a:r>
            <a:r>
              <a:rPr lang="en-US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 (folder 1)</a:t>
            </a:r>
            <a:endParaRPr lang="he-IL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צורה חופשית 2"/>
          <p:cNvSpPr/>
          <p:nvPr/>
        </p:nvSpPr>
        <p:spPr>
          <a:xfrm>
            <a:off x="99000" y="1294920"/>
            <a:ext cx="8917920" cy="5217480"/>
          </a:xfrm>
          <a:custGeom>
            <a:avLst/>
            <a:gdLst>
              <a:gd name="textAreaLeft" fmla="*/ 0 w 8917920"/>
              <a:gd name="textAreaRight" fmla="*/ 8918280 w 8917920"/>
              <a:gd name="textAreaTop" fmla="*/ 0 h 5217480"/>
              <a:gd name="textAreaBottom" fmla="*/ 5217840 h 5217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AED1EE"/>
          </a:solidFill>
          <a:ln w="9360">
            <a:solidFill>
              <a:srgbClr val="000000"/>
            </a:solidFill>
            <a:miter/>
          </a:ln>
          <a:effectLst>
            <a:outerShdw dist="107932" dir="2700000" rotWithShape="0">
              <a:srgbClr val="91919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urier New"/>
                <a:ea typeface="Arial"/>
              </a:rPr>
              <a:t>// Prefix: ++n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urier New"/>
                <a:ea typeface="Arial"/>
              </a:rPr>
              <a:t>Complex&amp;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operator++</a:t>
            </a: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Courier New"/>
                <a:ea typeface="Arial"/>
              </a:rPr>
              <a:t>()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{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code that adds one to this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return *this; // return ref to curr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}      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Courier New"/>
                <a:ea typeface="Arial"/>
              </a:rPr>
              <a:t>// Postfix : n++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Courier New"/>
                <a:ea typeface="Arial"/>
              </a:rPr>
              <a:t>const Complex 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operator++</a:t>
            </a: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Courier New"/>
                <a:ea typeface="Arial"/>
              </a:rPr>
              <a:t>(int)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{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Comlpex cpy(*this); // calling copy 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code that adds one to this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 return cpy;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Arial"/>
              </a:rPr>
              <a:t>}     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צורה חופשית 3"/>
          <p:cNvSpPr/>
          <p:nvPr/>
        </p:nvSpPr>
        <p:spPr>
          <a:xfrm>
            <a:off x="5075280" y="3109320"/>
            <a:ext cx="3885840" cy="914040"/>
          </a:xfrm>
          <a:custGeom>
            <a:avLst/>
            <a:gdLst>
              <a:gd name="textAreaLeft" fmla="*/ 0 w 3885840"/>
              <a:gd name="textAreaRight" fmla="*/ 3886200 w 3885840"/>
              <a:gd name="textAreaTop" fmla="*/ 0 h 914040"/>
              <a:gd name="textAreaBottom" fmla="*/ 914400 h 914040"/>
            </a:gdLst>
            <a:ahLst/>
            <a:cxnLst/>
            <a:rect l="textAreaLeft" t="textAreaTop" r="textAreaRight" b="textAreaBottom"/>
            <a:pathLst>
              <a:path w="10795" h="3100">
                <a:moveTo>
                  <a:pt x="0" y="0"/>
                </a:moveTo>
                <a:arcTo wR="0" hR="0" stAng="10800000" swAng="5400000"/>
                <a:lnTo>
                  <a:pt x="10795" y="0"/>
                </a:lnTo>
                <a:arcTo wR="0" hR="0" stAng="16200000" swAng="5400000"/>
                <a:lnTo>
                  <a:pt x="10795" y="2540"/>
                </a:lnTo>
                <a:arcTo wR="0" hR="0" stAng="0" swAng="5400000"/>
                <a:lnTo>
                  <a:pt x="0" y="2540"/>
                </a:lnTo>
                <a:arcTo wR="0" hR="0" stAng="5400000" swAng="5400000"/>
                <a:close/>
              </a:path>
              <a:path w="10795" h="3100" fill="none">
                <a:moveTo>
                  <a:pt x="0" y="3100"/>
                </a:moveTo>
                <a:lnTo>
                  <a:pt x="0" y="1270"/>
                </a:lnTo>
                <a:lnTo>
                  <a:pt x="0" y="1270"/>
                </a:lnTo>
              </a:path>
            </a:pathLst>
          </a:custGeom>
          <a:solidFill>
            <a:srgbClr val="47B8B8"/>
          </a:solidFill>
          <a:ln w="36720">
            <a:solidFill>
              <a:srgbClr val="000000"/>
            </a:solidFill>
            <a:round/>
            <a:head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4"/>
          <p:cNvSpPr/>
          <p:nvPr/>
        </p:nvSpPr>
        <p:spPr>
          <a:xfrm>
            <a:off x="5029200" y="2971800"/>
            <a:ext cx="5943240" cy="103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720" tIns="90720" rIns="135720" bIns="9072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Arial"/>
              </a:rPr>
              <a:t>A flag that makes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Arial"/>
              </a:rPr>
              <a:t>it postfix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11040" y="151200"/>
            <a:ext cx="773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Arithmetic operators in the</a:t>
            </a:r>
            <a:br>
              <a:rPr sz="3600"/>
            </a:br>
            <a:r>
              <a:rPr lang="he-IL" sz="3600" b="1" u="none" strike="noStrike">
                <a:solidFill>
                  <a:srgbClr val="800080"/>
                </a:solidFill>
                <a:effectLst/>
                <a:uFillTx/>
                <a:latin typeface="Arial"/>
              </a:rPr>
              <a:t>standard library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299520" y="1311120"/>
            <a:ext cx="8643600" cy="44165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plus (+) is used for concatenating strings.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Arithmetic operators are used for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MS Gothic"/>
              </a:rPr>
              <a:t>valarray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objects.</a:t>
            </a:r>
            <a:br>
              <a:rPr sz="2800"/>
            </a:b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NOTE: operators are not commutative! </a:t>
            </a:r>
            <a:br>
              <a:rPr sz="2800"/>
            </a:b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  a*b does not have to be the same as b*a.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mathematical example: matrix*vector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1040" y="151200"/>
            <a:ext cx="773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Other operators in the</a:t>
            </a:r>
            <a:br>
              <a:rPr sz="3600"/>
            </a:br>
            <a:r>
              <a:rPr lang="he-IL" sz="3600" b="1" u="none" strike="noStrike">
                <a:solidFill>
                  <a:srgbClr val="800080"/>
                </a:solidFill>
                <a:effectLst/>
                <a:uFillTx/>
                <a:latin typeface="Arial"/>
              </a:rPr>
              <a:t>standard library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299520" y="1311120"/>
            <a:ext cx="8643600" cy="47577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&gt;&gt; &lt;&lt; are used as bit operations for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primitives numbers</a:t>
            </a:r>
            <a:r>
              <a:rPr lang="he-IL" sz="2800" b="0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and for I/O in the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standard library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iostreams classes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[] is used as subscripting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primitives arrays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and vector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/map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class in the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standard library</a:t>
            </a:r>
            <a:r>
              <a:rPr lang="he-IL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</a:t>
            </a:r>
            <a:r>
              <a:rPr lang="he-IL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folder 2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() is used for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function calls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and for functor objects in the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standard library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(folder 4).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211040" y="151200"/>
            <a:ext cx="773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Rules for writing your operators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299520" y="1311120"/>
            <a:ext cx="8844120" cy="365484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0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Arial" panose="020B0604020202020204" pitchFamily="34" charset="0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Don't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overload operators with </a:t>
            </a: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non-standard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behavior! (&lt;&lt; for adding,...)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0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SzPct val="70000"/>
              <a:buFont typeface="Arial" panose="020B0604020202020204" pitchFamily="34" charset="0"/>
              <a:buChar char="•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Check how operators work on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primitives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or in the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standard library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and give the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same behavior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in your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class.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4714</TotalTime>
  <Words>426</Words>
  <Application>Microsoft Office PowerPoint</Application>
  <PresentationFormat>On-screen Show (4:3)</PresentationFormat>
  <Paragraphs>72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Comic Sans MS</vt:lpstr>
      <vt:lpstr>Courier New</vt:lpstr>
      <vt:lpstr>Symbol</vt:lpstr>
      <vt:lpstr>Times New Roman</vt:lpstr>
      <vt:lpstr>Wingdings</vt:lpstr>
      <vt:lpstr>Office</vt:lpstr>
      <vt:lpstr>Operator overloading</vt:lpstr>
      <vt:lpstr>Operator Overloading - functions</vt:lpstr>
      <vt:lpstr>Operator Overloading - methods</vt:lpstr>
      <vt:lpstr>Invoking an Overloaded Operator</vt:lpstr>
      <vt:lpstr>What is it good for</vt:lpstr>
      <vt:lpstr>Operators ++ -- postfix prefix (folder 1)</vt:lpstr>
      <vt:lpstr>Arithmetic operators in the standard library</vt:lpstr>
      <vt:lpstr>Other operators in the standard library</vt:lpstr>
      <vt:lpstr>Rules for writing your operators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Nir Friedman</dc:creator>
  <dc:description/>
  <cp:lastModifiedBy>Erel Segal-Halevi</cp:lastModifiedBy>
  <cp:revision>756</cp:revision>
  <cp:lastPrinted>2006-12-12T13:43:12Z</cp:lastPrinted>
  <dcterms:created xsi:type="dcterms:W3CDTF">2002-10-18T11:19:22Z</dcterms:created>
  <dcterms:modified xsi:type="dcterms:W3CDTF">2026-04-12T14:24:36Z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Info 1">
    <vt:lpwstr/>
  </property>
  <property fmtid="{D5CDD505-2E9C-101B-9397-08002B2CF9AE}" pid="5" name="Info 2">
    <vt:lpwstr/>
  </property>
  <property fmtid="{D5CDD505-2E9C-101B-9397-08002B2CF9AE}" pid="6" name="Info 3">
    <vt:lpwstr/>
  </property>
  <property fmtid="{D5CDD505-2E9C-101B-9397-08002B2CF9AE}" pid="7" name="Info 4">
    <vt:lpwstr/>
  </property>
  <property fmtid="{D5CDD505-2E9C-101B-9397-08002B2CF9AE}" pid="8" name="LinksUpToDate">
    <vt:bool>false</vt:bool>
  </property>
  <property fmtid="{D5CDD505-2E9C-101B-9397-08002B2CF9AE}" pid="9" name="MMClips">
    <vt:r8>0</vt:r8>
  </property>
  <property fmtid="{D5CDD505-2E9C-101B-9397-08002B2CF9AE}" pid="10" name="Notes">
    <vt:r8>39</vt:r8>
  </property>
  <property fmtid="{D5CDD505-2E9C-101B-9397-08002B2CF9AE}" pid="11" name="PresentationFormat">
    <vt:lpwstr>On-screen Show (4:3)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r8>40</vt:r8>
  </property>
</Properties>
</file>