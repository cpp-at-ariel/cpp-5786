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4" r:id="rId3"/>
    <p:sldMasterId id="2147483656" r:id="rId4"/>
    <p:sldMasterId id="2147483658" r:id="rId5"/>
    <p:sldMasterId id="2147483660" r:id="rId6"/>
    <p:sldMasterId id="2147483662" r:id="rId7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1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ftr" idx="1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0F1A31-7293-4A17-9574-FE55559648A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Strings are *similar* but not the same as java strings. </a:t>
            </a:r>
          </a:p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are not part of the language but part of the standard library</a:t>
            </a:r>
          </a:p>
        </p:txBody>
      </p:sp>
      <p:sp>
        <p:nvSpPr>
          <p:cNvPr id="122" name="PlaceHolder 3"/>
          <p:cNvSpPr>
            <a:spLocks noGrp="1"/>
          </p:cNvSpPr>
          <p:nvPr>
            <p:ph type="sldNum" idx="29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ACA67D6E-236A-4EB2-A18C-DBD9321EB8D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9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30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B4C8923E-DC85-4A1D-9F51-6417267C15A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10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0A0C4B6-7E67-4C8C-BD45-51F68E7ACFF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FF1A614-689F-49F6-8965-212B5A100E3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391B735-EF49-4C11-8801-03ECB92219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3C40F71-FEC2-4CFB-83CB-9B2CCC32B87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1CC1493-2CCC-4D08-A2B0-F4F0FD35DCE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21919B6-F7C9-42C5-ADB0-5DF7A9790B7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r" rtl="1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34EB213D-938D-48EC-91ED-20FAF7E5071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335E076-DB99-4D63-BFF9-2D6392D612B3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120C9DA1-6899-4A7E-908D-10212EF8D64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93D8C6C9-476D-4F38-8BD3-E484816E11D2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B3F7285-E72E-4EFE-AA7F-0FAC19EC8B5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A961D3EB-C335-4C2E-A7E5-002D5C081BC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11040" y="151920"/>
            <a:ext cx="773208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  <a:cs typeface="Tahoma"/>
              </a:rPr>
              <a:t>לחץ כדי לערוך סגנון כותרת של תבנית בסיס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299520" y="1311120"/>
            <a:ext cx="8643600" cy="511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Click to edit the outline text format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Second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Third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Fourth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Fifth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Sixth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Seventh Outline Level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לחץ כדי לערוך סגנונות טקסט של תבנית בסיס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0" lvl="7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שנייה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0" lvl="8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שלישית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0" lvl="0" indent="-216000"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רביעית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0" lvl="0" indent="-216000"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חמישית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8"/>
          </p:nvPr>
        </p:nvSpPr>
        <p:spPr>
          <a:xfrm>
            <a:off x="0" y="6400800"/>
            <a:ext cx="54860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/>
          <a:p>
            <a:pPr indent="0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9"/>
          </p:nvPr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F4FC7D-2977-4EF3-99E0-E205861721ED}" type="slidenum"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F42CC93-9FE9-4EF9-A85C-43378B13965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dt" idx="1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81ACD4E3-A2C7-4749-9F18-218BBB47D5CE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1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604654E-967A-4318-BE9E-F89EC2FFAA4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github.com/bitcoin/bitcoin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github.com/facebook/folly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github.com/EpicGames/UnrealEngine" TargetMode="External"/><Relationship Id="rId4" Type="http://schemas.openxmlformats.org/officeDocument/2006/relationships/hyperlink" Target="https://github.com/LibreOffice/core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sefk.com/c++fqa/" TargetMode="External"/><Relationship Id="rId2" Type="http://schemas.openxmlformats.org/officeDocument/2006/relationships/hyperlink" Target="https://benchmarksgame-team.pages.debian.net/benchmarksgame/performance/mandelbrot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cppreference.com/w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preference.com/cppst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cebook/folly/blob/master/folly/stop_watch.h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qtam/doctest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295280" y="320040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Dr. Erel Segal-Halevi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of the slides were written by: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Dr. Ofir Pele and Dr. Miri Ben-Nissan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C++ Lesson 1</a:t>
            </a:r>
            <a:br>
              <a:rPr sz="4000"/>
            </a:b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C++       vs.        C, Java, Python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CA8C2FC-F4E3-4978-9B01-0869907758B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מלבן 4"/>
          <p:cNvSpPr/>
          <p:nvPr/>
        </p:nvSpPr>
        <p:spPr>
          <a:xfrm>
            <a:off x="380880" y="304920"/>
            <a:ext cx="8381520" cy="624816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Software written in C++: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Facebook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9900"/>
                </a:solidFill>
                <a:effectLst/>
                <a:uFillTx/>
                <a:latin typeface="Arial"/>
                <a:hlinkClick r:id="rId2"/>
              </a:rPr>
              <a:t>https://github.com/facebook/folly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Bitcoin:</a:t>
            </a:r>
            <a:r>
              <a:rPr lang="en-US" sz="2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9900"/>
                </a:solidFill>
                <a:effectLst/>
                <a:uFillTx/>
                <a:latin typeface="Arial"/>
                <a:hlinkClick r:id="rId3"/>
              </a:rPr>
              <a:t>https://github.com/bitcoin/bitcoin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LibreOffice:</a:t>
            </a:r>
            <a:r>
              <a:rPr lang="en-US" sz="2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9900"/>
                </a:solidFill>
                <a:effectLst/>
                <a:uFillTx/>
                <a:latin typeface="Arial"/>
                <a:hlinkClick r:id="rId4"/>
              </a:rPr>
              <a:t>https://github.com/LibreOffice/core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Unreal:</a:t>
            </a:r>
            <a:r>
              <a:rPr lang="en-US" sz="2800" b="1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9900"/>
                </a:solidFill>
                <a:effectLst/>
                <a:uFillTx/>
                <a:latin typeface="Arial"/>
                <a:hlinkClick r:id="rId5"/>
              </a:rPr>
              <a:t>https://github.com/EpicGames/UnrealEngine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65"/>
          <p:cNvPicPr/>
          <p:nvPr/>
        </p:nvPicPr>
        <p:blipFill>
          <a:blip r:embed="rId6"/>
          <a:stretch/>
        </p:blipFill>
        <p:spPr>
          <a:xfrm>
            <a:off x="6838560" y="165960"/>
            <a:ext cx="2209320" cy="166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66"/>
          <p:cNvPicPr/>
          <p:nvPr/>
        </p:nvPicPr>
        <p:blipFill>
          <a:blip r:embed="rId7"/>
          <a:stretch/>
        </p:blipFill>
        <p:spPr>
          <a:xfrm>
            <a:off x="6020640" y="1934280"/>
            <a:ext cx="3009600" cy="15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8"/>
          <a:srcRect l="13116" t="20262" r="8286" b="27507"/>
          <a:stretch/>
        </p:blipFill>
        <p:spPr>
          <a:xfrm>
            <a:off x="5619960" y="3562920"/>
            <a:ext cx="3409920" cy="142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68"/>
          <p:cNvPicPr/>
          <p:nvPr/>
        </p:nvPicPr>
        <p:blipFill>
          <a:blip r:embed="rId9"/>
          <a:stretch/>
        </p:blipFill>
        <p:spPr>
          <a:xfrm>
            <a:off x="6362640" y="5067360"/>
            <a:ext cx="2695680" cy="1642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C1FAAA54-7923-4AAA-8E71-1A525739E3B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1" name="Table 70"/>
          <p:cNvGraphicFramePr/>
          <p:nvPr/>
        </p:nvGraphicFramePr>
        <p:xfrm>
          <a:off x="504720" y="968760"/>
          <a:ext cx="8046720" cy="5270160"/>
        </p:xfrm>
        <a:graphic>
          <a:graphicData uri="http://schemas.openxmlformats.org/drawingml/2006/table">
            <a:tbl>
              <a:tblPr/>
              <a:tblGrid>
                <a:gridCol w="42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2360">
                <a:tc>
                  <a:txBody>
                    <a:bodyPr/>
                    <a:lstStyle/>
                    <a:p>
                      <a:pPr algn="ctr"/>
                      <a:r>
                        <a:rPr lang="en-US" sz="3600" b="1" i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Times New Roman"/>
                        </a:rPr>
                        <a:t>C++ =</a:t>
                      </a:r>
                    </a:p>
                    <a:p>
                      <a:pPr algn="ctr"/>
                      <a:r>
                        <a:rPr lang="en-US" sz="3600" b="1" i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Times New Roman"/>
                        </a:rPr>
                        <a:t>C + Java + More...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Java,</a:t>
                      </a:r>
                      <a:br>
                        <a:rPr sz="2400"/>
                      </a:b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Python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640"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Low-level machine programming</a:t>
                      </a:r>
                      <a:br>
                        <a:rPr sz="3600"/>
                      </a:b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hlinkClick r:id="rId2"/>
                        </a:rPr>
                        <a:t>benchmarks</a:t>
                      </a:r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360"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High-level </a:t>
                      </a:r>
                      <a:br>
                        <a:rPr sz="3600"/>
                      </a:br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Object-Oriented programming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640"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Complexity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009900"/>
                          </a:solidFill>
                          <a:effectLst/>
                          <a:uFillTx/>
                          <a:latin typeface="Arial"/>
                        </a:rPr>
                        <a:t>Low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High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u="none" strike="noStrike">
                          <a:solidFill>
                            <a:srgbClr val="800080"/>
                          </a:solidFill>
                          <a:effectLst/>
                          <a:uFillTx/>
                          <a:latin typeface="Arial"/>
                        </a:rPr>
                        <a:t>Med.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457200" y="6309360"/>
            <a:ext cx="330804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/>
              </a:rPr>
              <a:t>https://yosefk.com/c++fqa/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9120" y="6309360"/>
            <a:ext cx="3303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hlinkClick r:id="rId4"/>
              </a:rPr>
              <a:t>https://en.cppreference.com/w/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68720" y="53280"/>
            <a:ext cx="3591720" cy="122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C++?</a:t>
            </a:r>
            <a:br>
              <a:rPr sz="4000"/>
            </a:b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42058C5-C22B-45AC-BBA2-5BBF71752F3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מלבן 4"/>
          <p:cNvSpPr/>
          <p:nvPr/>
        </p:nvSpPr>
        <p:spPr>
          <a:xfrm>
            <a:off x="380880" y="304920"/>
            <a:ext cx="8381520" cy="624816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C++   vs.  Java – memory</a:t>
            </a:r>
            <a:br>
              <a:rPr sz="4000"/>
            </a:b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In C++, the memory consumption of a data structure is tight – you get only what you ask for.</a:t>
            </a:r>
            <a:br>
              <a:rPr sz="3600"/>
            </a:b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In Java, your data structures might consume much more memory.</a:t>
            </a:r>
            <a:br>
              <a:rPr sz="3600"/>
            </a:b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See example in folder 1.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i="1" u="none" strike="noStrike">
                <a:solidFill>
                  <a:srgbClr val="CE181E"/>
                </a:solidFill>
                <a:effectLst/>
                <a:uFillTx/>
                <a:latin typeface="Arial"/>
              </a:rPr>
              <a:t>Why is this?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Num" idx="2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BEF188F-BD55-40E1-8DAF-9202B4258FC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מלבן 4_0"/>
          <p:cNvSpPr/>
          <p:nvPr/>
        </p:nvSpPr>
        <p:spPr>
          <a:xfrm>
            <a:off x="380880" y="304920"/>
            <a:ext cx="8381520" cy="624816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C++   vs.  Python – time</a:t>
            </a:r>
            <a:br>
              <a:rPr sz="4000"/>
            </a:b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In both languages, you can solve complex algorithmic problems, such as the Traveling Salesman Problem.</a:t>
            </a:r>
            <a:br>
              <a:rPr sz="3600"/>
            </a:b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In C++, the code runs 10-100 times faster;  see example in folder 1.	</a:t>
            </a:r>
            <a:br>
              <a:rPr sz="3600"/>
            </a:b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Besides speed, C++ is also better suited to work in </a:t>
            </a:r>
            <a:r>
              <a:rPr lang="en-US" sz="3600" b="0" i="1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real time</a:t>
            </a: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History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2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97AB083-E5F8-4E07-8056-064A5F5B0C0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-89640" y="3287880"/>
            <a:ext cx="9142200" cy="735480"/>
            <a:chOff x="-89640" y="3287880"/>
            <a:chExt cx="9142200" cy="735480"/>
          </a:xfrm>
        </p:grpSpPr>
        <p:sp>
          <p:nvSpPr>
            <p:cNvPr id="82" name="Arrow: Chevron 81"/>
            <p:cNvSpPr/>
            <p:nvPr/>
          </p:nvSpPr>
          <p:spPr>
            <a:xfrm>
              <a:off x="-89640" y="3287880"/>
              <a:ext cx="2520000" cy="73548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79920" tIns="26640" rIns="26640" bIns="266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700"/>
                </a:spcAft>
                <a:tabLst>
                  <a:tab pos="0" algn="l"/>
                </a:tabLst>
              </a:pPr>
              <a:r>
                <a:rPr lang="en-US" sz="2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The C++ Prog. Manual (85-90)</a:t>
              </a:r>
            </a:p>
          </p:txBody>
        </p:sp>
        <p:sp>
          <p:nvSpPr>
            <p:cNvPr id="83" name="Arrow: Chevron 82"/>
            <p:cNvSpPr/>
            <p:nvPr/>
          </p:nvSpPr>
          <p:spPr>
            <a:xfrm>
              <a:off x="2246760" y="3287880"/>
              <a:ext cx="1839240" cy="73548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32040" rIns="32040" bIns="320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C++98</a:t>
              </a:r>
            </a:p>
          </p:txBody>
        </p:sp>
        <p:sp>
          <p:nvSpPr>
            <p:cNvPr id="84" name="Arrow: Chevron 83"/>
            <p:cNvSpPr/>
            <p:nvPr/>
          </p:nvSpPr>
          <p:spPr>
            <a:xfrm>
              <a:off x="3902400" y="3287880"/>
              <a:ext cx="1839240" cy="73548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32040" rIns="32040" bIns="320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C++03</a:t>
              </a:r>
            </a:p>
          </p:txBody>
        </p:sp>
        <p:sp>
          <p:nvSpPr>
            <p:cNvPr id="85" name="Arrow: Chevron 84"/>
            <p:cNvSpPr/>
            <p:nvPr/>
          </p:nvSpPr>
          <p:spPr>
            <a:xfrm>
              <a:off x="5557680" y="3287880"/>
              <a:ext cx="1839240" cy="73548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32040" rIns="32040" bIns="320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C++11 </a:t>
              </a:r>
            </a:p>
          </p:txBody>
        </p:sp>
        <p:sp>
          <p:nvSpPr>
            <p:cNvPr id="86" name="Arrow: Chevron 85"/>
            <p:cNvSpPr/>
            <p:nvPr/>
          </p:nvSpPr>
          <p:spPr>
            <a:xfrm>
              <a:off x="7213320" y="3287880"/>
              <a:ext cx="1839240" cy="73548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080" tIns="33480" rIns="33480" bIns="3348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76"/>
                </a:spcAft>
                <a:tabLst>
                  <a:tab pos="0" algn="l"/>
                </a:tabLst>
              </a:pPr>
              <a:r>
                <a:rPr lang="en-US" sz="25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C++14 </a:t>
              </a:r>
            </a:p>
          </p:txBody>
        </p:sp>
      </p:grpSp>
      <p:sp>
        <p:nvSpPr>
          <p:cNvPr id="87" name="TextBox 10"/>
          <p:cNvSpPr/>
          <p:nvPr/>
        </p:nvSpPr>
        <p:spPr>
          <a:xfrm>
            <a:off x="2286000" y="2244240"/>
            <a:ext cx="182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Default in g++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3960360" y="4038480"/>
            <a:ext cx="167616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Minor changes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5670000" y="1676520"/>
            <a:ext cx="159984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auto, lambdas, threading,…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7391520" y="609480"/>
            <a:ext cx="1599840" cy="265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 return type, generic lambdas, binary literals,…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7270200" y="4045680"/>
            <a:ext cx="167616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Minor changes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5646600" y="4038480"/>
            <a:ext cx="167616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Major changes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Future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9EBCC2F-9D3A-4840-B683-69B306B3B8D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2520" y="3004920"/>
            <a:ext cx="9138240" cy="1305000"/>
            <a:chOff x="2520" y="3004920"/>
            <a:chExt cx="9138240" cy="1305000"/>
          </a:xfrm>
        </p:grpSpPr>
        <p:sp>
          <p:nvSpPr>
            <p:cNvPr id="96" name="Arrow: Chevron 95"/>
            <p:cNvSpPr/>
            <p:nvPr/>
          </p:nvSpPr>
          <p:spPr>
            <a:xfrm>
              <a:off x="2520" y="3004920"/>
              <a:ext cx="3263400" cy="130500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32040" rIns="32040" bIns="320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C++17</a:t>
              </a:r>
            </a:p>
          </p:txBody>
        </p:sp>
        <p:sp>
          <p:nvSpPr>
            <p:cNvPr id="97" name="Arrow: Chevron 96"/>
            <p:cNvSpPr/>
            <p:nvPr/>
          </p:nvSpPr>
          <p:spPr>
            <a:xfrm>
              <a:off x="2940120" y="3004920"/>
              <a:ext cx="3263400" cy="130500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32040" rIns="32040" bIns="3204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C++20 </a:t>
              </a:r>
            </a:p>
          </p:txBody>
        </p:sp>
        <p:sp>
          <p:nvSpPr>
            <p:cNvPr id="98" name="Arrow: Chevron 97"/>
            <p:cNvSpPr/>
            <p:nvPr/>
          </p:nvSpPr>
          <p:spPr>
            <a:xfrm>
              <a:off x="5877360" y="3004920"/>
              <a:ext cx="3263400" cy="1305000"/>
            </a:xfrm>
            <a:prstGeom prst="chevron">
              <a:avLst>
                <a:gd name="adj" fmla="val 50000"/>
              </a:avLst>
            </a:prstGeom>
            <a:solidFill>
              <a:srgbClr val="D34817"/>
            </a:solidFill>
            <a:ln w="126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59920" tIns="86760" rIns="86760" bIns="8676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C++23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59D716B-0DA0-4D44-B8D6-4CA44D24C9F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missing types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strings in 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2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3DD9C32-2D88-43F7-9563-A2F9C901188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182880" y="8539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&lt;iostream&gt;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&lt;string&gt;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string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str;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b;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std::cin &gt;&gt; str &gt;&gt; a &gt;&gt; b;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if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(std::cin.fail())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std::cerr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"input problem\n"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std::cout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"I got: 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&lt;&lt; str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' '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&lt;&lt; a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' '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&lt;&lt; b &lt;&lt; std::endl;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Box 4"/>
          <p:cNvSpPr/>
          <p:nvPr/>
        </p:nvSpPr>
        <p:spPr>
          <a:xfrm>
            <a:off x="4076640" y="1012680"/>
            <a:ext cx="4533480" cy="1029240"/>
          </a:xfrm>
          <a:prstGeom prst="rect">
            <a:avLst/>
          </a:prstGeom>
          <a:noFill/>
          <a:ln w="25560">
            <a:solidFill>
              <a:srgbClr val="D3481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 rtl="1">
              <a:lnSpc>
                <a:spcPct val="100000"/>
              </a:lnSpc>
              <a:spcBef>
                <a:spcPts val="1199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about string functions: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rtl="1">
              <a:lnSpc>
                <a:spcPct val="100000"/>
              </a:lnSpc>
              <a:spcBef>
                <a:spcPts val="901"/>
              </a:spcBef>
            </a:pPr>
            <a:r>
              <a:rPr lang="en-US" sz="1800" b="0" u="sng" strike="noStrike">
                <a:solidFill>
                  <a:srgbClr val="CC9900"/>
                </a:solidFill>
                <a:effectLst/>
                <a:uFillTx/>
                <a:latin typeface="Arial"/>
                <a:hlinkClick r:id="rId3"/>
              </a:rPr>
              <a:t>http://www.cppreference.com/cppstring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Boolean variables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2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77348C2-706F-4D51-974D-A34F11260F8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#include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&lt;iostream&gt;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=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5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bool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isZero = (a == </a:t>
            </a:r>
            <a:r>
              <a:rPr lang="en-US" sz="24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// same conditions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if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(!isZero &amp;&amp; isZero==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false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&amp;&amp;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isZero!=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true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&amp;&amp;  !!! isZero &amp;&amp; a ) 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   std::cout &lt;&lt; </a:t>
            </a:r>
            <a:r>
              <a:rPr lang="en-US" sz="24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"a is not zero\n"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}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"/>
          <p:cNvSpPr/>
          <p:nvPr/>
        </p:nvSpPr>
        <p:spPr>
          <a:xfrm>
            <a:off x="6816240" y="2892960"/>
            <a:ext cx="1371240" cy="821880"/>
          </a:xfrm>
          <a:prstGeom prst="rect">
            <a:avLst/>
          </a:prstGeom>
          <a:solidFill>
            <a:srgbClr val="00B050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rtl="1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style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"/>
          <p:cNvSpPr/>
          <p:nvPr/>
        </p:nvSpPr>
        <p:spPr>
          <a:xfrm>
            <a:off x="1366560" y="3657240"/>
            <a:ext cx="1242720" cy="456840"/>
          </a:xfrm>
          <a:prstGeom prst="roundRect">
            <a:avLst>
              <a:gd name="adj" fmla="val 16667"/>
            </a:avLst>
          </a:prstGeom>
          <a:solidFill>
            <a:srgbClr val="00B050">
              <a:alpha val="40000"/>
            </a:srgbClr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traight Arrow Connector 5"/>
          <p:cNvSpPr/>
          <p:nvPr/>
        </p:nvSpPr>
        <p:spPr>
          <a:xfrm flipH="1" flipV="1">
            <a:off x="2054880" y="3654360"/>
            <a:ext cx="4888440" cy="50040"/>
          </a:xfrm>
          <a:prstGeom prst="straightConnector1">
            <a:avLst/>
          </a:prstGeom>
          <a:noFill/>
          <a:ln w="57240">
            <a:solidFill>
              <a:srgbClr val="00B0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040" rIns="90000" bIns="50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562680"/>
            <a:ext cx="7772040" cy="70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  <a:ea typeface="Noto Sans CJK SC Regular"/>
              </a:rPr>
              <a:t>C++ namespace</a:t>
            </a:r>
            <a:r>
              <a:rPr lang="en-US" sz="2800" b="0" u="none" strike="noStrike">
                <a:solidFill>
                  <a:srgbClr val="696464"/>
                </a:solidFill>
                <a:effectLst/>
                <a:uFillTx/>
                <a:latin typeface="Arial"/>
                <a:ea typeface="Noto Sans CJK SC Regular"/>
              </a:rPr>
              <a:t> (folder 3)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2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4BEBACB8-090B-4A8D-95B8-54CD94AB7FD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640" y="1554480"/>
            <a:ext cx="8046720" cy="4993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Groups different variables and functions together;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Reduces danger of name-collision when including different libraries;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Can span multiple files.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Standard library namespace: std;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9900"/>
                </a:solidFill>
                <a:effectLst/>
                <a:uFillTx/>
                <a:latin typeface="Arial"/>
              </a:rPr>
              <a:t>Another example: folly </a:t>
            </a:r>
            <a:r>
              <a:rPr lang="en-US" sz="2000" b="0" u="none" strike="noStrike">
                <a:solidFill>
                  <a:srgbClr val="009900"/>
                </a:solidFill>
                <a:effectLst/>
                <a:uFillTx/>
                <a:latin typeface="Monospace"/>
                <a:ea typeface="David CLM"/>
                <a:hlinkClick r:id="rId2"/>
              </a:rPr>
              <a:t>https://github.com/facebook/folly/blob/master/folly/stop_watch.h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Error Handling in C++ </a:t>
            </a:r>
            <a:r>
              <a:rPr lang="en-US" sz="28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(folders 5-6)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2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670E285-D5BF-4D62-B751-E1AB4EAC65B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6" name="Table 115"/>
          <p:cNvGraphicFramePr/>
          <p:nvPr/>
        </p:nvGraphicFramePr>
        <p:xfrm>
          <a:off x="395280" y="963720"/>
          <a:ext cx="8519760" cy="3824160"/>
        </p:xfrm>
        <a:graphic>
          <a:graphicData uri="http://schemas.openxmlformats.org/drawingml/2006/table">
            <a:tbl>
              <a:tblPr/>
              <a:tblGrid>
                <a:gridCol w="283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840">
                <a:tc>
                  <a:txBody>
                    <a:bodyPr/>
                    <a:lstStyle/>
                    <a:p>
                      <a:pPr algn="ctr"/>
                      <a:endParaRPr lang="en-US" sz="2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Exception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Assert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Used during: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Normal run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Development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Used for: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Handling exceptional conditions.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Spotting internal errors and bugs.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Disabling: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With compiler flag 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Unit-testing in 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2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7172B6C-1D6E-4A64-9AA3-7E11C782E68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48640" y="1554480"/>
            <a:ext cx="8046720" cy="4993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You learned to do it in Java (JUnit).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It is at least as important in C++. </a:t>
            </a:r>
            <a:br>
              <a:rPr sz="3600"/>
            </a:b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127622"/>
                </a:solidFill>
                <a:effectLst/>
                <a:uFillTx/>
                <a:latin typeface="Arial"/>
              </a:rPr>
              <a:t>There are many frameworks for automated unit-testing in C++.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127622"/>
                </a:solidFill>
                <a:effectLst/>
                <a:uFillTx/>
                <a:latin typeface="Arial"/>
              </a:rPr>
              <a:t>We will use </a:t>
            </a:r>
            <a:r>
              <a:rPr lang="en-US" sz="3600" b="1" u="none" strike="noStrike">
                <a:solidFill>
                  <a:srgbClr val="127622"/>
                </a:solidFill>
                <a:effectLst/>
                <a:uFillTx/>
                <a:latin typeface="Arial"/>
              </a:rPr>
              <a:t>doctest</a:t>
            </a:r>
            <a:r>
              <a:rPr lang="en-US" sz="3600" b="0" u="none" strike="noStrike">
                <a:solidFill>
                  <a:srgbClr val="127622"/>
                </a:solidFill>
                <a:effectLst/>
                <a:uFillTx/>
                <a:latin typeface="Arial"/>
              </a:rPr>
              <a:t> – an open-source framework:</a:t>
            </a:r>
            <a:br>
              <a:rPr sz="3600"/>
            </a:br>
            <a:r>
              <a:rPr lang="en-US" sz="3600" b="0" u="none" strike="noStrike">
                <a:solidFill>
                  <a:srgbClr val="127622"/>
                </a:solidFill>
                <a:effectLst/>
                <a:uFillTx/>
                <a:latin typeface="Arial"/>
                <a:hlinkClick r:id="rId2"/>
              </a:rPr>
              <a:t>https://github.com/onqtam/doctest</a:t>
            </a:r>
            <a:r>
              <a:rPr lang="en-US" sz="3600" b="0" u="none" strike="noStrike">
                <a:solidFill>
                  <a:srgbClr val="127622"/>
                </a:solidFill>
                <a:effectLst/>
                <a:uFillTx/>
                <a:latin typeface="Arial"/>
              </a:rPr>
              <a:t>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See folder 8 for an example.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47134</TotalTime>
  <Words>730</Words>
  <Application>Microsoft Office PowerPoint</Application>
  <PresentationFormat>On-screen Show (4:3)</PresentationFormat>
  <Paragraphs>111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Arial</vt:lpstr>
      <vt:lpstr>Calibri</vt:lpstr>
      <vt:lpstr>Consolas</vt:lpstr>
      <vt:lpstr>Monospace</vt:lpstr>
      <vt:lpstr>Symbol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C++ Lesson 1 C++       vs.        C, Java, Python</vt:lpstr>
      <vt:lpstr>PowerPoint Presentation</vt:lpstr>
      <vt:lpstr>PowerPoint Presentation</vt:lpstr>
      <vt:lpstr>PowerPoint Presentation</vt:lpstr>
      <vt:lpstr>PowerPoint Presentation</vt:lpstr>
      <vt:lpstr>History</vt:lpstr>
      <vt:lpstr>Future</vt:lpstr>
      <vt:lpstr>The missing types</vt:lpstr>
      <vt:lpstr>strings in C++</vt:lpstr>
      <vt:lpstr>Boolean variables</vt:lpstr>
      <vt:lpstr>C++ namespace (folder 3)</vt:lpstr>
      <vt:lpstr>Error Handling in C++ (folders 5-6)</vt:lpstr>
      <vt:lpstr>Unit-testing in C++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subject/>
  <dc:creator>zomet</dc:creator>
  <dc:description/>
  <cp:lastModifiedBy>Erel Segal-Halevi</cp:lastModifiedBy>
  <cp:revision>1208</cp:revision>
  <cp:lastPrinted>1999-11-04T13:06:28Z</cp:lastPrinted>
  <dcterms:created xsi:type="dcterms:W3CDTF">1999-10-10T10:49:40Z</dcterms:created>
  <dcterms:modified xsi:type="dcterms:W3CDTF">2026-03-21T21:35:13Z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12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‫הצגה על המסך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26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