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7099300" cy="10234613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21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7000" y="812520"/>
            <a:ext cx="5345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 rtl="1"/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7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0D7BA31-6D77-4B95-81A8-E54243F7D0B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Box 1"/>
          <p:cNvSpPr/>
          <p:nvPr/>
        </p:nvSpPr>
        <p:spPr>
          <a:xfrm>
            <a:off x="2219400" y="776160"/>
            <a:ext cx="2661840" cy="383832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1"/>
          <p:cNvSpPr>
            <a:spLocks noGrp="1"/>
          </p:cNvSpPr>
          <p:nvPr>
            <p:ph type="body"/>
          </p:nvPr>
        </p:nvSpPr>
        <p:spPr>
          <a:xfrm>
            <a:off x="709560" y="4862520"/>
            <a:ext cx="56782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ctr">
            <a:no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720" y="768240"/>
            <a:ext cx="5117760" cy="3838320"/>
          </a:xfrm>
          <a:prstGeom prst="rect">
            <a:avLst/>
          </a:prstGeom>
          <a:ln w="0">
            <a:noFill/>
          </a:ln>
        </p:spPr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sldNum" idx="30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7350BA3F-19F4-4DC6-8288-8044C89F065A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3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720" y="768240"/>
            <a:ext cx="5117760" cy="383832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31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1B9D77C6-4DD4-41E6-83D8-7F48456D75EF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4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Box 1"/>
          <p:cNvSpPr/>
          <p:nvPr/>
        </p:nvSpPr>
        <p:spPr>
          <a:xfrm>
            <a:off x="2219400" y="776160"/>
            <a:ext cx="2661840" cy="383832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body"/>
          </p:nvPr>
        </p:nvSpPr>
        <p:spPr>
          <a:xfrm>
            <a:off x="709560" y="4862520"/>
            <a:ext cx="56782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ctr">
            <a:no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Note: private members are part of the interface file (because they appear at the h file, not on purpose)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32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1B606263-B798-4478-A755-EFEF789F52D9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6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Note: private members are part of the interface file (because they appear at the h file, not on purpose)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33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9E58EC83-E8D5-4785-9B48-2865D6548CE0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7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Note: private members are part of the interface file (because they appear at the h file, not on purpose)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34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311ED26A-58BF-4C5C-96B3-AA22E51D8BDA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8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720" y="768240"/>
            <a:ext cx="5117760" cy="383832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Note: private members are part of the interface file (because they appear at the h file, not on purpose)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35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04D00793-8337-4BDC-A43D-E0717139B276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9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720" y="768240"/>
            <a:ext cx="5117760" cy="383832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Note: private members are part of the interface file (because they appear at the h file, not on purpose)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36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4F86D82B-D13C-4CA4-A9AC-E2DE0231B5DF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10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720" y="768240"/>
            <a:ext cx="5117760" cy="383832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Note: private members are part of the interface file (because they appear at the h file, not on purpose)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37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BCA9713C-9E2C-4236-AC1A-0E1F50CC26D3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11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720" y="768240"/>
            <a:ext cx="5117760" cy="38383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about this in  the tirgul</a:t>
            </a:r>
          </a:p>
        </p:txBody>
      </p:sp>
      <p:sp>
        <p:nvSpPr>
          <p:cNvPr id="143" name="PlaceHolder 3"/>
          <p:cNvSpPr>
            <a:spLocks noGrp="1"/>
          </p:cNvSpPr>
          <p:nvPr>
            <p:ph type="sldNum" idx="38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03E85221-0B2C-4132-AC01-A009BA3577CE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12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B7934DFE-4FAD-4ED4-8C81-9D4C7A2D5217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9253E1C-D73A-4DEA-BFBD-2A8D5BFA7C64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dt" idx="4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C196DCED-7B75-4E4E-8B65-A863383C609D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ftr" idx="5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9287FF19-BECA-4E86-B3DF-3CC289353119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73D5C64A-7508-4184-8A5D-B70C91334E3E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כותרת בלבד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dt" idx="8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4C619C5A-8C17-4C50-AA84-BA1EED41774B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9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1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69FC1864-FABE-4052-A0AB-48C732EC5DD5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ני תכנים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5CD06780-CFBC-436B-9E30-FA8B668BD8F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228600" y="990720"/>
            <a:ext cx="419076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4419720" y="990720"/>
            <a:ext cx="449532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548640" lvl="1" indent="-228240">
              <a:lnSpc>
                <a:spcPct val="100000"/>
              </a:lnSpc>
              <a:spcBef>
                <a:spcPts val="371"/>
              </a:spcBef>
              <a:buClr>
                <a:srgbClr val="9B2D1F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822960" lvl="2" indent="-228240">
              <a:lnSpc>
                <a:spcPct val="100000"/>
              </a:lnSpc>
              <a:spcBef>
                <a:spcPts val="371"/>
              </a:spcBef>
              <a:buClr>
                <a:srgbClr val="E5B1AB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1097280" lvl="3" indent="-228240">
              <a:lnSpc>
                <a:spcPct val="100000"/>
              </a:lnSpc>
              <a:spcBef>
                <a:spcPts val="371"/>
              </a:spcBef>
              <a:buClr>
                <a:srgbClr val="A28E6A"/>
              </a:buClr>
              <a:buSzPct val="80000"/>
              <a:buFont typeface="Wingdings 2" charset="2"/>
              <a:buChar char="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1371600" lvl="4" indent="-228240">
              <a:lnSpc>
                <a:spcPct val="100000"/>
              </a:lnSpc>
              <a:spcBef>
                <a:spcPts val="371"/>
              </a:spcBef>
              <a:buClr>
                <a:srgbClr val="A28E6A"/>
              </a:buClr>
              <a:buFont typeface="StarSymbol"/>
              <a:buChar char="o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כותרת ותוכן_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1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91C08C1-7D59-4BF0-8994-86177B401ED4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_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dt" idx="13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7EDB19B3-6FBE-4F7B-A436-0BA2AB3775EB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14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1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E4CE5014-F0DE-4C6C-8DCA-89325FDB1999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Classes in C++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כותרת משנה 3"/>
          <p:cNvSpPr txBox="1"/>
          <p:nvPr/>
        </p:nvSpPr>
        <p:spPr>
          <a:xfrm>
            <a:off x="1920240" y="4114800"/>
            <a:ext cx="5211720" cy="2103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1: Dr. Ofir Pele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2: Dr. Miri Ben-Nissan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3: Dr. Erel Segal-Halevi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Num" idx="19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276FD0C4-A3B0-4E81-87D8-C25474E92632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61" name="Table 60"/>
          <p:cNvGraphicFramePr/>
          <p:nvPr/>
        </p:nvGraphicFramePr>
        <p:xfrm>
          <a:off x="273960" y="136080"/>
          <a:ext cx="8570160" cy="6695280"/>
        </p:xfrm>
        <a:graphic>
          <a:graphicData uri="http://schemas.openxmlformats.org/drawingml/2006/table">
            <a:tbl>
              <a:tblPr/>
              <a:tblGrid>
                <a:gridCol w="2142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9640">
                <a:tc>
                  <a:txBody>
                    <a:bodyPr/>
                    <a:lstStyle/>
                    <a:p>
                      <a:pPr algn="ctr"/>
                      <a:endParaRPr lang="en-US" sz="3200" b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990099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FF"/>
                          </a:solidFill>
                          <a:effectLst/>
                          <a:uFillTx/>
                          <a:latin typeface="Arial"/>
                        </a:rPr>
                        <a:t>Java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96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Keyword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struct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class/struct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class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96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Attributes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96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Methods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FF3333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96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Access control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FF3333"/>
                          </a:solidFill>
                          <a:effectLst/>
                          <a:uFillTx/>
                          <a:latin typeface="Arial"/>
                        </a:rPr>
                        <a:t>all public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public or private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public or private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96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Memory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stack/heap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stack/heap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FF3333"/>
                          </a:solidFill>
                          <a:effectLst/>
                          <a:uFillTx/>
                          <a:latin typeface="Arial"/>
                        </a:rPr>
                        <a:t>heap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96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Operators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FF3333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FF3333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96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Filename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any </a:t>
                      </a:r>
                      <a:r>
                        <a:rPr lang="en-US" sz="24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(usually: </a:t>
                      </a:r>
                      <a:r>
                        <a:rPr lang="en-US" sz="2400" b="0" i="1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r>
                        <a:rPr lang="en-US" sz="24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.h)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any</a:t>
                      </a:r>
                      <a:r>
                        <a:rPr lang="en-US" sz="18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en-US" sz="24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(usually: </a:t>
                      </a:r>
                      <a:r>
                        <a:rPr lang="en-US" sz="2400" b="0" i="1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r>
                        <a:rPr lang="en-US" sz="24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.hpp </a:t>
                      </a:r>
                      <a:r>
                        <a:rPr lang="en-US" sz="2400" b="0" i="1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r>
                        <a:rPr lang="en-US" sz="24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.cpp)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1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r>
                        <a:rPr lang="en-US" sz="2800" b="0" u="none" strike="noStrike">
                          <a:solidFill>
                            <a:srgbClr val="993366"/>
                          </a:solidFill>
                          <a:effectLst/>
                          <a:uFillTx/>
                          <a:latin typeface="Arial"/>
                        </a:rPr>
                        <a:t>.java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2500" lnSpcReduction="19999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structs and classes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2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927757A9-6B3A-4744-B35C-6DE803E7A3FC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did 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struct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go? </a:t>
            </a:r>
          </a:p>
          <a:p>
            <a:pPr marL="548640" lvl="1" indent="-228240">
              <a:lnSpc>
                <a:spcPct val="100000"/>
              </a:lnSpc>
              <a:spcBef>
                <a:spcPts val="371"/>
              </a:spcBef>
              <a:buClr>
                <a:srgbClr val="9B2D1F"/>
              </a:buClr>
              <a:buSzPct val="85000"/>
              <a:buFont typeface="Arial"/>
              <a:buChar char="•"/>
              <a:tabLst>
                <a:tab pos="0" algn="l"/>
              </a:tabLst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C++ </a:t>
            </a:r>
            <a:r>
              <a:rPr lang="en-US" sz="27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==</a:t>
            </a:r>
            <a:r>
              <a:rPr lang="en-US" sz="27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struct</a:t>
            </a: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except that by default </a:t>
            </a:r>
            <a:r>
              <a:rPr lang="en-US" sz="27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struct </a:t>
            </a: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members are </a:t>
            </a:r>
            <a:r>
              <a:rPr lang="en-US" sz="2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</a:t>
            </a: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en-US" sz="27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 </a:t>
            </a: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members are </a:t>
            </a:r>
            <a:r>
              <a:rPr lang="en-US" sz="2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private</a:t>
            </a: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</a:p>
        </p:txBody>
      </p:sp>
      <p:sp>
        <p:nvSpPr>
          <p:cNvPr id="65" name="Rectangle 3"/>
          <p:cNvSpPr/>
          <p:nvPr/>
        </p:nvSpPr>
        <p:spPr>
          <a:xfrm>
            <a:off x="228600" y="2895480"/>
            <a:ext cx="419076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581"/>
              </a:spcBef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struct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MyStruct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581"/>
              </a:spcBef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4"/>
          <p:cNvSpPr/>
          <p:nvPr/>
        </p:nvSpPr>
        <p:spPr>
          <a:xfrm>
            <a:off x="4419720" y="2743200"/>
            <a:ext cx="449532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581"/>
              </a:spcBef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 MyStruct s;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s.x = </a:t>
            </a:r>
            <a:r>
              <a:rPr lang="en-US" sz="28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 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ok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c; </a:t>
            </a:r>
            <a:br>
              <a:rPr sz="2800"/>
            </a:b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   c.x = 1; // error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800"/>
            </a:br>
            <a:br>
              <a:rPr sz="2800"/>
            </a:b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581"/>
              </a:spcBef>
              <a:tabLst>
                <a:tab pos="0" algn="l"/>
              </a:tabLst>
            </a:pPr>
            <a:br>
              <a:rPr sz="2800"/>
            </a:b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2500" lnSpcReduction="19999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structs &amp; classes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ldNum" idx="2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895660FF-D022-4F28-8AA7-381BCE3D53F5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304920" y="914400"/>
            <a:ext cx="3627000" cy="5714640"/>
          </a:xfrm>
          <a:prstGeom prst="rect">
            <a:avLst/>
          </a:prstGeom>
          <a:noFill/>
          <a:ln w="0">
            <a:solidFill>
              <a:srgbClr val="579D1C"/>
            </a:solidFill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of these are the same: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struct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struct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  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  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206240" y="914400"/>
            <a:ext cx="4663440" cy="57146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of these are the same (and useless):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private: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  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struct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private: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  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Arrangement of Classes in Memory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כותרת משנה 3"/>
          <p:cNvSpPr txBox="1"/>
          <p:nvPr/>
        </p:nvSpPr>
        <p:spPr>
          <a:xfrm>
            <a:off x="1920240" y="4114800"/>
            <a:ext cx="5211720" cy="2103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1: Dr. Ofir Pele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2: Dr. Miri Ben-Nissan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3: Dr. Erel Segal-Halevi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sldNum" idx="2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2308BF3-A99F-4CA4-A869-2DFD7AA81C0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182880" y="1214640"/>
            <a:ext cx="2743200" cy="34747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struct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Cplx {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re, im;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Cplx sumCplx(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Cplx a, Cplx b) {…}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5" name="Table 74"/>
          <p:cNvGraphicFramePr/>
          <p:nvPr/>
        </p:nvGraphicFramePr>
        <p:xfrm>
          <a:off x="274320" y="136440"/>
          <a:ext cx="8723160" cy="734040"/>
        </p:xfrm>
        <a:graphic>
          <a:graphicData uri="http://schemas.openxmlformats.org/drawingml/2006/table">
            <a:tbl>
              <a:tblPr/>
              <a:tblGrid>
                <a:gridCol w="275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40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990099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FF"/>
                          </a:solidFill>
                          <a:effectLst/>
                          <a:uFillTx/>
                          <a:latin typeface="Arial"/>
                        </a:rPr>
                        <a:t>Java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5852160" y="1188720"/>
            <a:ext cx="3017520" cy="448056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Cplx {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private double   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re, im;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Cplx sum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(Cplx b) {…}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Cplx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re,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im) {…}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2926080" y="1188720"/>
            <a:ext cx="2926080" cy="53035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Cplx {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 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re, im;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Cplx sum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(Cplx b) {…}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Cplx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re,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im) {…}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Num" idx="2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5D33009A-0F45-40E7-8621-6CA3CC617B3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182880" y="1214640"/>
            <a:ext cx="2743200" cy="26258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Cplx a;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a.re=5;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a.im=10;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79"/>
          <p:cNvGraphicFramePr/>
          <p:nvPr/>
        </p:nvGraphicFramePr>
        <p:xfrm>
          <a:off x="274320" y="136440"/>
          <a:ext cx="8723160" cy="734040"/>
        </p:xfrm>
        <a:graphic>
          <a:graphicData uri="http://schemas.openxmlformats.org/drawingml/2006/table">
            <a:tbl>
              <a:tblPr/>
              <a:tblGrid>
                <a:gridCol w="275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40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990099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FF"/>
                          </a:solidFill>
                          <a:effectLst/>
                          <a:uFillTx/>
                          <a:latin typeface="Arial"/>
                        </a:rPr>
                        <a:t>Java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5852160" y="1188720"/>
            <a:ext cx="3017520" cy="24688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main(…) {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Cplx a =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 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Cplx(5,10);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2926080" y="1188720"/>
            <a:ext cx="2926080" cy="15544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Cplx a(5,10);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Num" idx="24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9A6AAB3-9A89-4796-8179-4F932BCEF36E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8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84" name="Table 83"/>
          <p:cNvGraphicFramePr/>
          <p:nvPr/>
        </p:nvGraphicFramePr>
        <p:xfrm>
          <a:off x="392040" y="357480"/>
          <a:ext cx="8564040" cy="5769000"/>
        </p:xfrm>
        <a:graphic>
          <a:graphicData uri="http://schemas.openxmlformats.org/drawingml/2006/table">
            <a:tbl>
              <a:tblPr/>
              <a:tblGrid>
                <a:gridCol w="276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5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4120">
                <a:tc>
                  <a:txBody>
                    <a:bodyPr/>
                    <a:lstStyle/>
                    <a:p>
                      <a:pPr algn="ctr"/>
                      <a:endParaRPr lang="en-US" sz="3200" b="1" u="none" strike="noStrike">
                        <a:solidFill>
                          <a:srgbClr val="CE181E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C, </a:t>
                      </a:r>
                      <a:r>
                        <a:rPr lang="en-US" sz="3200" b="1" u="none" strike="noStrike">
                          <a:solidFill>
                            <a:srgbClr val="990099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FF"/>
                          </a:solidFill>
                          <a:effectLst/>
                          <a:uFillTx/>
                          <a:latin typeface="Arial"/>
                        </a:rPr>
                        <a:t>Java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66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Stack:</a:t>
                      </a:r>
                      <a:endParaRPr lang="en-US" sz="32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3200" b="1" u="none" strike="noStrike">
                        <a:solidFill>
                          <a:srgbClr val="00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3200" b="1" u="none" strike="noStrike">
                        <a:solidFill>
                          <a:srgbClr val="00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824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CC00"/>
                          </a:solidFill>
                          <a:effectLst/>
                          <a:uFillTx/>
                          <a:latin typeface="Arial"/>
                        </a:rPr>
                        <a:t>Heap:</a:t>
                      </a:r>
                      <a:endParaRPr lang="en-US" sz="32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3200" b="1" u="none" strike="noStrike">
                        <a:solidFill>
                          <a:srgbClr val="00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`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304560" y="6126480"/>
            <a:ext cx="8595360" cy="4572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main () {  Cplx a, b, c;  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Table 85"/>
          <p:cNvGraphicFramePr/>
          <p:nvPr/>
        </p:nvGraphicFramePr>
        <p:xfrm>
          <a:off x="4029120" y="1280520"/>
          <a:ext cx="1386360" cy="2377440"/>
        </p:xfrm>
        <a:graphic>
          <a:graphicData uri="http://schemas.openxmlformats.org/drawingml/2006/table">
            <a:tbl>
              <a:tblPr/>
              <a:tblGrid>
                <a:gridCol w="1386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280">
                <a:tc>
                  <a:txBody>
                    <a:bodyPr/>
                    <a:lstStyle/>
                    <a:p>
                      <a:pPr algn="ctr"/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a.re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280">
                <a:tc>
                  <a:txBody>
                    <a:bodyPr/>
                    <a:lstStyle/>
                    <a:p>
                      <a:pPr algn="ctr"/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a.im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280">
                <a:tc>
                  <a:txBody>
                    <a:bodyPr/>
                    <a:lstStyle/>
                    <a:p>
                      <a:pPr algn="ctr"/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b.re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280">
                <a:tc>
                  <a:txBody>
                    <a:bodyPr/>
                    <a:lstStyle/>
                    <a:p>
                      <a:pPr algn="ctr"/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b.im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280">
                <a:tc>
                  <a:txBody>
                    <a:bodyPr/>
                    <a:lstStyle/>
                    <a:p>
                      <a:pPr algn="ctr"/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c.re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280">
                <a:tc>
                  <a:txBody>
                    <a:bodyPr/>
                    <a:lstStyle/>
                    <a:p>
                      <a:pPr algn="ctr"/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c.im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7" name="Table 86"/>
          <p:cNvGraphicFramePr/>
          <p:nvPr/>
        </p:nvGraphicFramePr>
        <p:xfrm>
          <a:off x="7098480" y="1696320"/>
          <a:ext cx="367560" cy="1188720"/>
        </p:xfrm>
        <a:graphic>
          <a:graphicData uri="http://schemas.openxmlformats.org/drawingml/2006/table">
            <a:tbl>
              <a:tblPr/>
              <a:tblGrid>
                <a:gridCol w="367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280">
                <a:tc>
                  <a:txBody>
                    <a:bodyPr/>
                    <a:lstStyle/>
                    <a:p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CC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280">
                <a:tc>
                  <a:txBody>
                    <a:bodyPr/>
                    <a:lstStyle/>
                    <a:p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CC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CC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8" name="Table 87"/>
          <p:cNvGraphicFramePr/>
          <p:nvPr/>
        </p:nvGraphicFramePr>
        <p:xfrm>
          <a:off x="7530120" y="5282280"/>
          <a:ext cx="730800" cy="792480"/>
        </p:xfrm>
        <a:graphic>
          <a:graphicData uri="http://schemas.openxmlformats.org/drawingml/2006/table">
            <a:tbl>
              <a:tblPr/>
              <a:tblGrid>
                <a:gridCol w="73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640">
                <a:tc>
                  <a:txBody>
                    <a:bodyPr/>
                    <a:lstStyle/>
                    <a:p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a.re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640">
                <a:tc>
                  <a:txBody>
                    <a:bodyPr/>
                    <a:lstStyle/>
                    <a:p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a.im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9" name="Table 88"/>
          <p:cNvGraphicFramePr/>
          <p:nvPr/>
        </p:nvGraphicFramePr>
        <p:xfrm>
          <a:off x="6081840" y="4320000"/>
          <a:ext cx="742680" cy="792480"/>
        </p:xfrm>
        <a:graphic>
          <a:graphicData uri="http://schemas.openxmlformats.org/drawingml/2006/table">
            <a:tbl>
              <a:tblPr/>
              <a:tblGrid>
                <a:gridCol w="742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640">
                <a:tc>
                  <a:txBody>
                    <a:bodyPr/>
                    <a:lstStyle/>
                    <a:p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b.re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640">
                <a:tc>
                  <a:txBody>
                    <a:bodyPr/>
                    <a:lstStyle/>
                    <a:p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b.im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0" name="Table 89"/>
          <p:cNvGraphicFramePr/>
          <p:nvPr/>
        </p:nvGraphicFramePr>
        <p:xfrm>
          <a:off x="6959160" y="3690720"/>
          <a:ext cx="716760" cy="792480"/>
        </p:xfrm>
        <a:graphic>
          <a:graphicData uri="http://schemas.openxmlformats.org/drawingml/2006/table">
            <a:tbl>
              <a:tblPr/>
              <a:tblGrid>
                <a:gridCol w="716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640">
                <a:tc>
                  <a:txBody>
                    <a:bodyPr/>
                    <a:lstStyle/>
                    <a:p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c.re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640">
                <a:tc>
                  <a:txBody>
                    <a:bodyPr/>
                    <a:lstStyle/>
                    <a:p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c.im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1" name="Straight Connector 90"/>
          <p:cNvSpPr/>
          <p:nvPr/>
        </p:nvSpPr>
        <p:spPr>
          <a:xfrm>
            <a:off x="7466040" y="1920240"/>
            <a:ext cx="580680" cy="3371040"/>
          </a:xfrm>
          <a:prstGeom prst="line">
            <a:avLst/>
          </a:prstGeom>
          <a:ln w="0">
            <a:solidFill>
              <a:srgbClr val="3465A4"/>
            </a:solidFill>
            <a:headEnd type="oval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traight Connector 91"/>
          <p:cNvSpPr/>
          <p:nvPr/>
        </p:nvSpPr>
        <p:spPr>
          <a:xfrm>
            <a:off x="7315200" y="2828520"/>
            <a:ext cx="0" cy="862200"/>
          </a:xfrm>
          <a:prstGeom prst="line">
            <a:avLst/>
          </a:prstGeom>
          <a:ln w="0">
            <a:solidFill>
              <a:srgbClr val="3465A4"/>
            </a:solidFill>
            <a:headEnd type="oval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traight Connector 92"/>
          <p:cNvSpPr/>
          <p:nvPr/>
        </p:nvSpPr>
        <p:spPr>
          <a:xfrm flipH="1">
            <a:off x="6217920" y="2194560"/>
            <a:ext cx="880560" cy="2103120"/>
          </a:xfrm>
          <a:prstGeom prst="line">
            <a:avLst/>
          </a:prstGeom>
          <a:ln w="0">
            <a:solidFill>
              <a:srgbClr val="3465A4"/>
            </a:solidFill>
            <a:headEnd type="oval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244080" y="457200"/>
            <a:ext cx="8534160" cy="548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Two ways to implement a method 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(folder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sldNum" idx="2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EA21941-9D54-4C92-94AA-BCCE4C869F89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9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244080" y="1127880"/>
            <a:ext cx="8534160" cy="5272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Complex {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 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re, im;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Complex () { re=0; im=0; }</a:t>
            </a:r>
            <a:r>
              <a:rPr lang="en-US" sz="2400" b="0" u="none" strike="noStrike">
                <a:solidFill>
                  <a:srgbClr val="009933"/>
                </a:solidFill>
                <a:effectLst/>
                <a:uFillTx/>
                <a:latin typeface="Consolas"/>
              </a:rPr>
              <a:t>// inline constructor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Complex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re,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im);   </a:t>
            </a:r>
            <a:r>
              <a:rPr lang="en-US" sz="2400" b="0" u="none" strike="noStrike">
                <a:solidFill>
                  <a:srgbClr val="009933"/>
                </a:solidFill>
                <a:effectLst/>
                <a:uFillTx/>
                <a:latin typeface="Consolas"/>
              </a:rPr>
              <a:t>// “outline”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Complex sum  (Complex b) {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return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Complex(a.re+b.re, a.im+b.im); } </a:t>
            </a:r>
            <a:r>
              <a:rPr lang="en-US" sz="2400" b="0" u="none" strike="noStrike">
                <a:solidFill>
                  <a:srgbClr val="009933"/>
                </a:solidFill>
                <a:effectLst/>
                <a:uFillTx/>
                <a:latin typeface="Consolas"/>
              </a:rPr>
              <a:t>// inline method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Complex diff (Complex b);      </a:t>
            </a:r>
            <a:r>
              <a:rPr lang="en-US" sz="2400" b="0" u="none" strike="noStrike">
                <a:solidFill>
                  <a:srgbClr val="009933"/>
                </a:solidFill>
                <a:effectLst/>
                <a:uFillTx/>
                <a:latin typeface="Consolas"/>
              </a:rPr>
              <a:t>// “outline”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244080" y="457200"/>
            <a:ext cx="8534160" cy="548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Implementing methods out-of-line</a:t>
            </a:r>
            <a:r>
              <a:rPr lang="en-US" sz="2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2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69BAB0FC-0FF7-4FB5-B8B0-219018ECA3D6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10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244080" y="1127880"/>
            <a:ext cx="8534160" cy="5272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Complex::Complex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re,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im)  {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this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→re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=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re;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this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→im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=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im;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Complex Complex::diff(Complex b) {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return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Complex(a.re-b.re, a.im-b.im);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}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Line Callout 1 1"/>
          <p:cNvSpPr/>
          <p:nvPr/>
        </p:nvSpPr>
        <p:spPr>
          <a:xfrm>
            <a:off x="3566160" y="2179800"/>
            <a:ext cx="2742840" cy="1294920"/>
          </a:xfrm>
          <a:prstGeom prst="borderCallout1">
            <a:avLst>
              <a:gd name="adj1" fmla="val 18750"/>
              <a:gd name="adj2" fmla="val -8333"/>
              <a:gd name="adj3" fmla="val -48491"/>
              <a:gd name="adj4" fmla="val -58801"/>
            </a:avLst>
          </a:prstGeom>
          <a:solidFill>
            <a:srgbClr val="D34817"/>
          </a:solidFill>
          <a:ln w="12600">
            <a:solidFill>
              <a:srgbClr val="9C35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Scope operator</a:t>
            </a:r>
          </a:p>
        </p:txBody>
      </p:sp>
      <p:sp>
        <p:nvSpPr>
          <p:cNvPr id="101" name="Straight Connector 100"/>
          <p:cNvSpPr/>
          <p:nvPr/>
        </p:nvSpPr>
        <p:spPr>
          <a:xfrm flipV="1">
            <a:off x="3474720" y="1554480"/>
            <a:ext cx="0" cy="9144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914400" y="3840480"/>
            <a:ext cx="3749040" cy="1280160"/>
          </a:xfrm>
          <a:prstGeom prst="rect">
            <a:avLst/>
          </a:prstGeom>
          <a:solidFill>
            <a:srgbClr val="C5000B"/>
          </a:solidFill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>
              <a:lnSpc>
                <a:spcPct val="100000"/>
              </a:lnSpc>
              <a:spcBef>
                <a:spcPts val="581"/>
              </a:spcBef>
              <a:tabLst>
                <a:tab pos="0" algn="l"/>
              </a:tabLst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address of the instance for which the member method was invoked.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traight Connector 102"/>
          <p:cNvSpPr/>
          <p:nvPr/>
        </p:nvSpPr>
        <p:spPr>
          <a:xfrm flipH="1" flipV="1">
            <a:off x="1371600" y="3108960"/>
            <a:ext cx="1097280" cy="64008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7010280" cy="731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What file-names should we use?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2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59B6162E-308F-492A-8569-209DAD62D4C4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11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365760" y="1371600"/>
            <a:ext cx="8412480" cy="4647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C++ compiler does not care how your files are called.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is common to put a class declaration in file</a:t>
            </a: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ClassName.hpp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(or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ClassName.h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the class implementation in fil</a:t>
            </a: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 </a:t>
            </a:r>
            <a:r>
              <a:rPr lang="en-US" sz="32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ClassName.cpp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Why is it better?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Hiding implementation details.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Saving comiplation time – when you have a good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Makefile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4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(see folder 2)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2500" lnSpcReduction="19999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Class Basics – member/static </a:t>
            </a:r>
            <a:r>
              <a:rPr lang="en-US" sz="22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(folder 3)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28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9A958396-8E7E-4B7B-9A24-59A1CF08BD44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List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000"/>
            </a:b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static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getMaxSize();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getSize();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static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max_size; //=</a:t>
            </a:r>
            <a:r>
              <a:rPr lang="en-US" sz="20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1000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//error! (declare outside)</a:t>
            </a:r>
            <a:br>
              <a:rPr sz="2000"/>
            </a:b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size=</a:t>
            </a:r>
            <a:r>
              <a:rPr lang="en-US" sz="20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000"/>
            </a:b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List::max_size=</a:t>
            </a:r>
            <a:r>
              <a:rPr lang="en-US" sz="20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1000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//ok, in one cpp file 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List l;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l.getSize();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List::getMaxSize();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l.getMaxSize(); </a:t>
            </a: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//compiles ok, but bad style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lnSpcReduction="9999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this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sldNum" idx="29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41ED3AB-8D6F-4974-A287-BA37791EB2C6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static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List::getMaxSize() </a:t>
            </a: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//no this!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return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this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-&gt;size; </a:t>
            </a: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compile error! </a:t>
            </a:r>
            <a:br>
              <a:rPr sz="2000"/>
            </a:b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return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max_size; </a:t>
            </a: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ok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000"/>
            </a:b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List::getSize()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return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this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-&gt;size; </a:t>
            </a: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//ok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40001</TotalTime>
  <Words>1092</Words>
  <Application>Microsoft Office PowerPoint</Application>
  <PresentationFormat>On-screen Show (4:3)</PresentationFormat>
  <Paragraphs>185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Consolas</vt:lpstr>
      <vt:lpstr>StarSymbol</vt:lpstr>
      <vt:lpstr>Symbol</vt:lpstr>
      <vt:lpstr>Times New Roman</vt:lpstr>
      <vt:lpstr>Wingdings</vt:lpstr>
      <vt:lpstr>Wingdings 2</vt:lpstr>
      <vt:lpstr>Office</vt:lpstr>
      <vt:lpstr>Classes in C++</vt:lpstr>
      <vt:lpstr>PowerPoint Presentation</vt:lpstr>
      <vt:lpstr>structs and classes</vt:lpstr>
      <vt:lpstr>structs &amp; classes</vt:lpstr>
      <vt:lpstr>Arrangement of Classes in Memory</vt:lpstr>
      <vt:lpstr>PowerPoint Presentation</vt:lpstr>
      <vt:lpstr>PowerPoint Presentation</vt:lpstr>
      <vt:lpstr>PowerPoint Presentation</vt:lpstr>
      <vt:lpstr>Two ways to implement a method (folder 1)</vt:lpstr>
      <vt:lpstr>Implementing methods out-of-line (folder 1)</vt:lpstr>
      <vt:lpstr>What file-names should we use?</vt:lpstr>
      <vt:lpstr>Class Basics – member/static (folder 3)</vt:lpstr>
      <vt:lpstr>this</vt:lpstr>
    </vt:vector>
  </TitlesOfParts>
  <Company>Institute of Computer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Erel Segal-Halevi</dc:creator>
  <cp:lastModifiedBy>Erel Segal-Halevi</cp:lastModifiedBy>
  <cp:revision>1</cp:revision>
  <dcterms:modified xsi:type="dcterms:W3CDTF">2026-03-23T09:31:59Z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1999-10-10T10:49:40Z</dcterms:created>
  <dc:creator>zomet</dc:creator>
  <dc:description/>
  <dc:language>en-US</dc:language>
  <cp:lastModifiedBy/>
  <cp:lastPrinted>1999-11-04T13:06:28Z</cp:lastPrinted>
  <dcterms:modified xsi:type="dcterms:W3CDTF">2026-03-21T23:43:46Z</dcterms:modified>
  <cp:revision>1318</cp:revision>
  <dc:subject/>
  <dc:title>History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ackColor">
    <vt:r8>15132390</vt:r8>
  </property>
  <property fmtid="{D5CDD505-2E9C-101B-9397-08002B2CF9AE}" pid="3" name="ButtonType">
    <vt:r8>1</vt:r8>
  </property>
  <property fmtid="{D5CDD505-2E9C-101B-9397-08002B2CF9AE}" pid="4" name="Compression">
    <vt:r8>100</vt:r8>
  </property>
  <property fmtid="{D5CDD505-2E9C-101B-9397-08002B2CF9AE}" pid="5" name="DownloadIEButton">
    <vt:bool>false</vt:bool>
  </property>
  <property fmtid="{D5CDD505-2E9C-101B-9397-08002B2CF9AE}" pid="6" name="DownloadOriginal">
    <vt:bool>true</vt:bool>
  </property>
  <property fmtid="{D5CDD505-2E9C-101B-9397-08002B2CF9AE}" pid="7" name="GraphicType">
    <vt:r8>1</vt:r8>
  </property>
  <property fmtid="{D5CDD505-2E9C-101B-9397-08002B2CF9AE}" pid="8" name="HiddenSlides">
    <vt:r8>0</vt:r8>
  </property>
  <property fmtid="{D5CDD505-2E9C-101B-9397-08002B2CF9AE}" pid="9" name="HomePage">
    <vt:lpwstr>http://www.cs.huji.ac.il/~plab</vt:lpwstr>
  </property>
  <property fmtid="{D5CDD505-2E9C-101B-9397-08002B2CF9AE}" pid="10" name="HyperlinksChanged">
    <vt:bool>false</vt:bool>
  </property>
  <property fmtid="{D5CDD505-2E9C-101B-9397-08002B2CF9AE}" pid="11" name="LinkColor">
    <vt:r8>16711782</vt:r8>
  </property>
  <property fmtid="{D5CDD505-2E9C-101B-9397-08002B2CF9AE}" pid="12" name="LinksUpToDate">
    <vt:bool>false</vt:bool>
  </property>
  <property fmtid="{D5CDD505-2E9C-101B-9397-08002B2CF9AE}" pid="13" name="MMClips">
    <vt:r8>0</vt:r8>
  </property>
  <property fmtid="{D5CDD505-2E9C-101B-9397-08002B2CF9AE}" pid="14" name="MailAddress">
    <vt:lpwstr>plab@cs.huji.ac.il</vt:lpwstr>
  </property>
  <property fmtid="{D5CDD505-2E9C-101B-9397-08002B2CF9AE}" pid="15" name="NavBtnPos">
    <vt:r8>1</vt:r8>
  </property>
  <property fmtid="{D5CDD505-2E9C-101B-9397-08002B2CF9AE}" pid="16" name="Notes">
    <vt:r8>25</vt:r8>
  </property>
  <property fmtid="{D5CDD505-2E9C-101B-9397-08002B2CF9AE}" pid="17" name="Other">
    <vt:lpwstr/>
  </property>
  <property fmtid="{D5CDD505-2E9C-101B-9397-08002B2CF9AE}" pid="18" name="OutputDir">
    <vt:lpwstr>c:\temp</vt:lpwstr>
  </property>
  <property fmtid="{D5CDD505-2E9C-101B-9397-08002B2CF9AE}" pid="19" name="PresentationFormat">
    <vt:lpwstr>On-screen Show (4:3)</vt:lpwstr>
  </property>
  <property fmtid="{D5CDD505-2E9C-101B-9397-08002B2CF9AE}" pid="20" name="ScaleCrop">
    <vt:bool>false</vt:bool>
  </property>
  <property fmtid="{D5CDD505-2E9C-101B-9397-08002B2CF9AE}" pid="21" name="ScreenSize">
    <vt:r8>2</vt:r8>
  </property>
  <property fmtid="{D5CDD505-2E9C-101B-9397-08002B2CF9AE}" pid="22" name="ScreenUsage">
    <vt:r8>1</vt:r8>
  </property>
  <property fmtid="{D5CDD505-2E9C-101B-9397-08002B2CF9AE}" pid="23" name="ShareDoc">
    <vt:bool>false</vt:bool>
  </property>
  <property fmtid="{D5CDD505-2E9C-101B-9397-08002B2CF9AE}" pid="24" name="ShowNotes">
    <vt:bool>false</vt:bool>
  </property>
  <property fmtid="{D5CDD505-2E9C-101B-9397-08002B2CF9AE}" pid="25" name="Slides">
    <vt:r8>56</vt:r8>
  </property>
  <property fmtid="{D5CDD505-2E9C-101B-9397-08002B2CF9AE}" pid="26" name="TemplateType">
    <vt:r8>1</vt:r8>
  </property>
  <property fmtid="{D5CDD505-2E9C-101B-9397-08002B2CF9AE}" pid="27" name="TextColor">
    <vt:r8>0</vt:r8>
  </property>
  <property fmtid="{D5CDD505-2E9C-101B-9397-08002B2CF9AE}" pid="28" name="TransparentButton">
    <vt:r8>0</vt:r8>
  </property>
  <property fmtid="{D5CDD505-2E9C-101B-9397-08002B2CF9AE}" pid="29" name="UseBrowserColor">
    <vt:bool>true</vt:bool>
  </property>
  <property fmtid="{D5CDD505-2E9C-101B-9397-08002B2CF9AE}" pid="30" name="VisitedColor">
    <vt:r8>10040268</vt:r8>
  </property>
</Properties>
</file>