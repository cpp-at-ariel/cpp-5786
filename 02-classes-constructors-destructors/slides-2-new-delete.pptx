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7099300" cy="10234613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1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 rtl="1"/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38" name="PlaceHolder 4"/>
          <p:cNvSpPr>
            <a:spLocks noGrp="1"/>
          </p:cNvSpPr>
          <p:nvPr>
            <p:ph type="dt" idx="1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9" name="PlaceHolder 5"/>
          <p:cNvSpPr>
            <a:spLocks noGrp="1"/>
          </p:cNvSpPr>
          <p:nvPr>
            <p:ph type="ftr" idx="1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0" name="PlaceHolder 6"/>
          <p:cNvSpPr>
            <a:spLocks noGrp="1"/>
          </p:cNvSpPr>
          <p:nvPr>
            <p:ph type="sldNum" idx="1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6D9662F-B809-4951-8269-078A3FFA894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Box 1"/>
          <p:cNvSpPr/>
          <p:nvPr/>
        </p:nvSpPr>
        <p:spPr>
          <a:xfrm>
            <a:off x="2219400" y="776160"/>
            <a:ext cx="2661840" cy="38383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body"/>
          </p:nvPr>
        </p:nvSpPr>
        <p:spPr>
          <a:xfrm>
            <a:off x="709560" y="4862520"/>
            <a:ext cx="56782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ctr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35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BAE7830D-CE4C-40FA-8C4A-450B17FB77D0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8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36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D5884582-6258-43EA-A93A-4944E7F794E9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9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should we do? </a:t>
            </a:r>
          </a:p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createObj and freeObj functions</a:t>
            </a:r>
          </a:p>
        </p:txBody>
      </p:sp>
      <p:sp>
        <p:nvSpPr>
          <p:cNvPr id="130" name="PlaceHolder 3"/>
          <p:cNvSpPr>
            <a:spLocks noGrp="1"/>
          </p:cNvSpPr>
          <p:nvPr>
            <p:ph type="sldNum" idx="37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A171F89E-4534-45E0-8911-4C8B6B104391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13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Replacing – the global operator new() isn't overloaded but special behavior – user defined function will replace (effectively hide) the pre defined. By standard, each c++ implementation should provide a global operator new() function that can be replaced.</a:t>
            </a:r>
          </a:p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Overloaded – inside a specific class you can overload the operator for that class.</a:t>
            </a:r>
          </a:p>
        </p:txBody>
      </p:sp>
      <p:sp>
        <p:nvSpPr>
          <p:cNvPr id="133" name="PlaceHolder 3"/>
          <p:cNvSpPr>
            <a:spLocks noGrp="1"/>
          </p:cNvSpPr>
          <p:nvPr>
            <p:ph type="sldNum" idx="38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76403ABA-586C-4593-AB66-BE0ED0E374F6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15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322C74F7-1C8F-43B5-ACE1-9FD9EA8F49E5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2026-03-27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DC755B05-9E9A-4DC3-AA79-3F5188E1C16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שקופית כותרת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dt" idx="4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3B994CFC-A94D-47E4-8E8D-876C60A82F28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2026-03-27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5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6BA1658B-0098-4A13-9C9F-F36D8158C9B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84372120-C314-4BE0-8DC0-151607C820A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כותרת בלבד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74680"/>
            <a:ext cx="8686440" cy="715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8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7050CE6F-8119-4A21-B354-0737D9DE9AA9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2026-03-27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9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0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3CA354FA-BEAA-4C7C-8E23-6CC9E906AEF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28600" y="274680"/>
            <a:ext cx="8686440" cy="715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11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7F3C918C-406F-45EE-B807-0637BED5857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228600" y="990720"/>
            <a:ext cx="4190760" cy="5562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419720" y="990720"/>
            <a:ext cx="4495320" cy="5562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548640" lvl="1" indent="-228240">
              <a:lnSpc>
                <a:spcPct val="100000"/>
              </a:lnSpc>
              <a:spcBef>
                <a:spcPts val="371"/>
              </a:spcBef>
              <a:buClr>
                <a:srgbClr val="9B2D1F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822960" lvl="2" indent="-228240">
              <a:lnSpc>
                <a:spcPct val="100000"/>
              </a:lnSpc>
              <a:spcBef>
                <a:spcPts val="371"/>
              </a:spcBef>
              <a:buClr>
                <a:srgbClr val="E5B1AB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1097280" lvl="3" indent="-228240">
              <a:lnSpc>
                <a:spcPct val="100000"/>
              </a:lnSpc>
              <a:spcBef>
                <a:spcPts val="371"/>
              </a:spcBef>
              <a:buClr>
                <a:srgbClr val="A28E6A"/>
              </a:buClr>
              <a:buSzPct val="80000"/>
              <a:buFont typeface="Wingdings 2" charset="2"/>
              <a:buChar char="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1371600" lvl="4" indent="-228240">
              <a:lnSpc>
                <a:spcPct val="100000"/>
              </a:lnSpc>
              <a:spcBef>
                <a:spcPts val="371"/>
              </a:spcBef>
              <a:buClr>
                <a:srgbClr val="A28E6A"/>
              </a:buClr>
              <a:buFont typeface="StarSymbol"/>
              <a:buChar char="o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Constructing and Destructing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כותרת משנה 3"/>
          <p:cNvSpPr txBox="1"/>
          <p:nvPr/>
        </p:nvSpPr>
        <p:spPr>
          <a:xfrm>
            <a:off x="1920240" y="4114800"/>
            <a:ext cx="5211720" cy="2103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Version 1: Dr. Ofir Pele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Version 2: Dr. Miri Ben-Nissan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Version 3: Dr. Erel Segal-Halevi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ldNum" idx="15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D2BDDF3F-7CD2-4987-91ED-584B07CFF64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4" name="Table 43"/>
          <p:cNvGraphicFramePr/>
          <p:nvPr>
            <p:extLst>
              <p:ext uri="{D42A27DB-BD31-4B8C-83A1-F6EECF244321}">
                <p14:modId xmlns:p14="http://schemas.microsoft.com/office/powerpoint/2010/main" val="849018210"/>
              </p:ext>
            </p:extLst>
          </p:nvPr>
        </p:nvGraphicFramePr>
        <p:xfrm>
          <a:off x="356040" y="170280"/>
          <a:ext cx="8556480" cy="6694560"/>
        </p:xfrm>
        <a:graphic>
          <a:graphicData uri="http://schemas.openxmlformats.org/drawingml/2006/table">
            <a:tbl>
              <a:tblPr/>
              <a:tblGrid>
                <a:gridCol w="259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2640"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3333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FFFF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FFFF"/>
                          </a:solidFill>
                          <a:effectLst/>
                          <a:uFillTx/>
                          <a:latin typeface="Arial"/>
                        </a:rPr>
                        <a:t>C++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FFFF"/>
                          </a:solidFill>
                          <a:effectLst/>
                          <a:uFillTx/>
                          <a:latin typeface="Arial"/>
                        </a:rPr>
                        <a:t>Java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880">
                <a:tc gridSpan="4">
                  <a:txBody>
                    <a:bodyPr/>
                    <a:lstStyle/>
                    <a:p>
                      <a:pPr algn="ctr"/>
                      <a:r>
                        <a:rPr lang="en-US" sz="3600" b="1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Objects on the stack: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3600" b="0" i="1" u="none" strike="noStrike">
                        <a:solidFill>
                          <a:srgbClr val="3333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3600" b="0" i="1" u="none" strike="noStrike">
                        <a:solidFill>
                          <a:srgbClr val="3333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3600" b="0" i="1" u="none" strike="noStrike">
                        <a:solidFill>
                          <a:srgbClr val="3333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72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Construct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CE181E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99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3200" b="0" i="1" u="none" strike="noStrike">
                          <a:solidFill>
                            <a:srgbClr val="CE181E"/>
                          </a:solidFill>
                          <a:effectLst/>
                          <a:uFillTx/>
                          <a:latin typeface="Arial"/>
                        </a:rPr>
                        <a:t>Impossible</a:t>
                      </a:r>
                    </a:p>
                  </a:txBody>
                  <a:tcPr marL="90000"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72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Destruct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CE181E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99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3200" b="0" u="none" strike="noStrike">
                        <a:solidFill>
                          <a:srgbClr val="3333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880">
                <a:tc gridSpan="4">
                  <a:txBody>
                    <a:bodyPr/>
                    <a:lstStyle/>
                    <a:p>
                      <a:pPr algn="ctr"/>
                      <a:r>
                        <a:rPr lang="en-US" sz="3600" b="1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Objects on the heap:</a:t>
                      </a:r>
                      <a:endParaRPr lang="en-US" sz="36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3200" b="0" u="none" strike="noStrike">
                        <a:solidFill>
                          <a:srgbClr val="00CC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3200" b="0" u="none" strike="noStrike">
                        <a:solidFill>
                          <a:srgbClr val="00CC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3200" b="0" u="none" strike="noStrike">
                        <a:solidFill>
                          <a:srgbClr val="00CC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136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Construct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CE181E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  <a:endParaRPr lang="en-US" sz="3200" b="0" u="none" strike="noStrike">
                        <a:solidFill>
                          <a:srgbClr val="3333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lang="en-US" sz="22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Arial"/>
                        </a:rPr>
                        <a:t>(</a:t>
                      </a:r>
                      <a:r>
                        <a:rPr lang="en-US" sz="22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Courier New"/>
                        </a:rPr>
                        <a:t>malloc</a:t>
                      </a:r>
                      <a:r>
                        <a:rPr lang="en-US" sz="22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Arial"/>
                        </a:rPr>
                        <a:t>)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99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  <a:endParaRPr lang="en-US" sz="3200" b="0" u="none" strike="noStrike">
                        <a:solidFill>
                          <a:srgbClr val="3333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lang="en-US" sz="32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Arial"/>
                        </a:rPr>
                        <a:t>(</a:t>
                      </a:r>
                      <a:r>
                        <a:rPr lang="en-US" sz="32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Courier New"/>
                        </a:rPr>
                        <a:t>new</a:t>
                      </a:r>
                      <a:r>
                        <a:rPr lang="en-US" sz="32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Arial"/>
                        </a:rPr>
                        <a:t>)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99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  <a:endParaRPr lang="en-US" sz="3200" b="0" u="none" strike="noStrike">
                        <a:solidFill>
                          <a:srgbClr val="3333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lang="en-US" sz="32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Arial"/>
                        </a:rPr>
                        <a:t>(</a:t>
                      </a:r>
                      <a:r>
                        <a:rPr lang="en-US" sz="32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Courier New"/>
                        </a:rPr>
                        <a:t>new</a:t>
                      </a:r>
                      <a:r>
                        <a:rPr lang="en-US" sz="32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Arial"/>
                        </a:rPr>
                        <a:t>)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100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Destruct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CE181E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  <a:endParaRPr lang="en-US" sz="3200" b="0" u="none" strike="noStrike">
                        <a:solidFill>
                          <a:srgbClr val="3333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lang="en-US" sz="28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Arial"/>
                        </a:rPr>
                        <a:t>(</a:t>
                      </a:r>
                      <a:r>
                        <a:rPr lang="en-US" sz="28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Courier New"/>
                        </a:rPr>
                        <a:t>free</a:t>
                      </a:r>
                      <a:r>
                        <a:rPr lang="en-US" sz="28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Arial"/>
                        </a:rPr>
                        <a:t>)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99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  <a:endParaRPr lang="en-US" sz="3200" b="0" u="none" strike="noStrike">
                        <a:solidFill>
                          <a:srgbClr val="3333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/>
                      <a:r>
                        <a:rPr lang="en-US" sz="32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Arial"/>
                        </a:rPr>
                        <a:t>(</a:t>
                      </a:r>
                      <a:r>
                        <a:rPr lang="en-US" sz="32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Courier New"/>
                        </a:rPr>
                        <a:t>delete</a:t>
                      </a:r>
                      <a:r>
                        <a:rPr lang="en-US" sz="3200" b="0" u="none" strike="noStrike">
                          <a:solidFill>
                            <a:srgbClr val="3333FF"/>
                          </a:solidFill>
                          <a:effectLst/>
                          <a:uFillTx/>
                          <a:latin typeface="Arial"/>
                        </a:rPr>
                        <a:t>)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CE181E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  <a:p>
                      <a:pPr algn="ctr"/>
                      <a:r>
                        <a:rPr lang="en-US" sz="2400" b="0" u="none" strike="noStrike">
                          <a:solidFill>
                            <a:srgbClr val="0000CC"/>
                          </a:solidFill>
                          <a:effectLst/>
                          <a:uFillTx/>
                          <a:latin typeface="Arial"/>
                        </a:rPr>
                        <a:t>(done automatically by garbage collector)</a:t>
                      </a:r>
                      <a:endParaRPr lang="en-US" sz="2400" b="0" u="none" strike="noStrike">
                        <a:solidFill>
                          <a:srgbClr val="CE181E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65760" y="168480"/>
            <a:ext cx="877824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C++ Laws of Construction and Destruction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1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FF280DDB-CBC0-4CCD-BA38-F4B6BE76FE5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182880" y="80784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rgbClr val="009933"/>
                </a:solidFill>
                <a:effectLst/>
                <a:uFillTx/>
                <a:latin typeface="Arial"/>
              </a:rPr>
              <a:t>1. Every object must be </a:t>
            </a:r>
            <a:r>
              <a:rPr lang="en-US" sz="4000" b="1" u="none" strike="noStrike">
                <a:solidFill>
                  <a:srgbClr val="009933"/>
                </a:solidFill>
                <a:effectLst/>
                <a:uFillTx/>
                <a:latin typeface="Arial"/>
              </a:rPr>
              <a:t>constructed</a:t>
            </a:r>
            <a:r>
              <a:rPr lang="en-US" sz="4000" b="0" u="none" strike="noStrike">
                <a:solidFill>
                  <a:srgbClr val="009933"/>
                </a:solidFill>
                <a:effectLst/>
                <a:uFillTx/>
                <a:latin typeface="Arial"/>
              </a:rPr>
              <a:t> before it is used.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8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4000" b="0" u="none" strike="noStrike">
                <a:solidFill>
                  <a:srgbClr val="009933"/>
                </a:solidFill>
                <a:effectLst/>
                <a:uFillTx/>
                <a:latin typeface="Arial"/>
              </a:rPr>
              <a:t>Stack object: when it is defined.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8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4000" b="0" u="none" strike="noStrike">
                <a:solidFill>
                  <a:srgbClr val="009933"/>
                </a:solidFill>
                <a:effectLst/>
                <a:uFillTx/>
                <a:latin typeface="Arial"/>
              </a:rPr>
              <a:t>Heap object: when it is </a:t>
            </a:r>
            <a:r>
              <a:rPr lang="en-US" sz="4000" b="1" u="none" strike="noStrike">
                <a:solidFill>
                  <a:srgbClr val="009933"/>
                </a:solidFill>
                <a:effectLst/>
                <a:uFillTx/>
                <a:latin typeface="Arial"/>
              </a:rPr>
              <a:t>new</a:t>
            </a:r>
            <a:r>
              <a:rPr lang="en-US" sz="4000" b="0" u="none" strike="noStrike">
                <a:solidFill>
                  <a:srgbClr val="009933"/>
                </a:solidFill>
                <a:effectLst/>
                <a:uFillTx/>
                <a:latin typeface="Arial"/>
              </a:rPr>
              <a:t>-ed.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rgbClr val="FF3333"/>
                </a:solidFill>
                <a:effectLst/>
                <a:uFillTx/>
                <a:latin typeface="Arial"/>
              </a:rPr>
              <a:t>2. Every object must be </a:t>
            </a:r>
            <a:r>
              <a:rPr lang="en-US" sz="4000" b="1" u="none" strike="noStrike">
                <a:solidFill>
                  <a:srgbClr val="FF3333"/>
                </a:solidFill>
                <a:effectLst/>
                <a:uFillTx/>
                <a:latin typeface="Arial"/>
              </a:rPr>
              <a:t>destructed </a:t>
            </a:r>
            <a:r>
              <a:rPr lang="en-US" sz="4000" b="0" u="none" strike="noStrike">
                <a:solidFill>
                  <a:srgbClr val="FF3333"/>
                </a:solidFill>
                <a:effectLst/>
                <a:uFillTx/>
                <a:latin typeface="Arial"/>
              </a:rPr>
              <a:t>after it stops being of use.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8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4000" b="0" u="none" strike="noStrike">
                <a:solidFill>
                  <a:srgbClr val="FF3333"/>
                </a:solidFill>
                <a:effectLst/>
                <a:uFillTx/>
                <a:latin typeface="Arial"/>
              </a:rPr>
              <a:t>Stack object: when gets out of scope.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8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4000" b="0" u="none" strike="noStrike">
                <a:solidFill>
                  <a:srgbClr val="FF3333"/>
                </a:solidFill>
                <a:effectLst/>
                <a:uFillTx/>
                <a:latin typeface="Arial"/>
              </a:rPr>
              <a:t>Heap object: when it is </a:t>
            </a:r>
            <a:r>
              <a:rPr lang="en-US" sz="4000" b="1" u="none" strike="noStrike">
                <a:solidFill>
                  <a:srgbClr val="FF3333"/>
                </a:solidFill>
                <a:effectLst/>
                <a:uFillTx/>
                <a:latin typeface="Arial"/>
              </a:rPr>
              <a:t>delete</a:t>
            </a:r>
            <a:r>
              <a:rPr lang="en-US" sz="4000" b="0" u="none" strike="noStrike">
                <a:solidFill>
                  <a:srgbClr val="FF3333"/>
                </a:solidFill>
                <a:effectLst/>
                <a:uFillTx/>
                <a:latin typeface="Arial"/>
              </a:rPr>
              <a:t>d.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Constructors </a:t>
            </a:r>
            <a:r>
              <a:rPr lang="en-US" sz="24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(folder 4)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D760E3E8-6ABA-4F58-9922-619F63465B4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274320" y="112824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i 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x,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y 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...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int main() {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MyClass a;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Calls 1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MyClass b {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5}</a:t>
            </a: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}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Calls 2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MyClass c {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1.0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 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0.0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Calls 3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Oval 4"/>
          <p:cNvSpPr/>
          <p:nvPr/>
        </p:nvSpPr>
        <p:spPr>
          <a:xfrm>
            <a:off x="182880" y="2299680"/>
            <a:ext cx="352080" cy="35208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11960" rIns="182880" bIns="111960" anchor="ctr">
            <a:noAutofit/>
          </a:bodyPr>
          <a:lstStyle/>
          <a:p>
            <a:pPr algn="r" rtl="1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Oval 5"/>
          <p:cNvSpPr/>
          <p:nvPr/>
        </p:nvSpPr>
        <p:spPr>
          <a:xfrm>
            <a:off x="196560" y="2665440"/>
            <a:ext cx="352080" cy="35208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11960" rIns="182880" bIns="111960" anchor="ctr">
            <a:noAutofit/>
          </a:bodyPr>
          <a:lstStyle/>
          <a:p>
            <a:pPr algn="r" rtl="1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Oval 6"/>
          <p:cNvSpPr/>
          <p:nvPr/>
        </p:nvSpPr>
        <p:spPr>
          <a:xfrm>
            <a:off x="196560" y="3031200"/>
            <a:ext cx="352080" cy="35208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11960" rIns="182880" bIns="111960" anchor="ctr">
            <a:noAutofit/>
          </a:bodyPr>
          <a:lstStyle/>
          <a:p>
            <a:pPr algn="r" rtl="1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Constructors and Arrays</a:t>
            </a:r>
            <a:r>
              <a:rPr lang="en-US" sz="24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 (folder 4)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18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898BFF3B-CCBF-40E6-8325-505C7D72882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274320" y="112824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i 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x,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y 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...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int main() {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MyClass a[5];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Calls 1 five times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MyClass b[5] {11, 22};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Calls 2 two times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MyClass c[5] { {11,22}, 33};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Calls 3 then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Oval 4"/>
          <p:cNvSpPr/>
          <p:nvPr/>
        </p:nvSpPr>
        <p:spPr>
          <a:xfrm>
            <a:off x="182880" y="2299680"/>
            <a:ext cx="352080" cy="35208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11960" rIns="182880" bIns="111960" anchor="ctr">
            <a:noAutofit/>
          </a:bodyPr>
          <a:lstStyle/>
          <a:p>
            <a:pPr algn="r" rtl="1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Oval 5"/>
          <p:cNvSpPr/>
          <p:nvPr/>
        </p:nvSpPr>
        <p:spPr>
          <a:xfrm>
            <a:off x="196560" y="2665440"/>
            <a:ext cx="352080" cy="35208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11960" rIns="182880" bIns="111960" anchor="ctr">
            <a:noAutofit/>
          </a:bodyPr>
          <a:lstStyle/>
          <a:p>
            <a:pPr algn="r" rtl="1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Oval 6"/>
          <p:cNvSpPr/>
          <p:nvPr/>
        </p:nvSpPr>
        <p:spPr>
          <a:xfrm>
            <a:off x="196560" y="3031200"/>
            <a:ext cx="352080" cy="35208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11960" rIns="182880" bIns="111960" anchor="ctr">
            <a:noAutofit/>
          </a:bodyPr>
          <a:lstStyle/>
          <a:p>
            <a:pPr algn="r" rtl="1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04920" y="152280"/>
            <a:ext cx="8534160" cy="76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Constructors – parameterless ctor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9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964911E6-0773-4133-B458-61AFD426C96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228600" y="99072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 { </a:t>
            </a:r>
            <a:br>
              <a:rPr sz="2800"/>
            </a:b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MyClass(); </a:t>
            </a: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parameterless ctor. </a:t>
            </a:r>
            <a:br>
              <a:rPr sz="2800"/>
            </a:b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   //...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br>
              <a:rPr sz="2800"/>
            </a:b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//... </a:t>
            </a:r>
            <a:br>
              <a:rPr sz="2800"/>
            </a:b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 a; </a:t>
            </a: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parameterless ctor called </a:t>
            </a:r>
            <a:br>
              <a:rPr sz="2800"/>
            </a:b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   // 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}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04920" y="152280"/>
            <a:ext cx="8534160" cy="76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Constructors – default parameterless ctor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20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4683D77D-2440-4D0F-ABAF-A364A489B30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228600" y="99072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 { </a:t>
            </a:r>
            <a:br>
              <a:rPr sz="2800"/>
            </a:b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No ctors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MyClass a; </a:t>
            </a: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</a:t>
            </a:r>
            <a:r>
              <a:rPr lang="en-US" sz="2800" b="1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default</a:t>
            </a: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parameterless ctor: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}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Num" idx="21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3B4C18C8-C089-4A7E-B7C3-1013D6264A1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04920" y="914400"/>
            <a:ext cx="883908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 { </a:t>
            </a:r>
            <a:br>
              <a:rPr sz="2800"/>
            </a:b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x); </a:t>
            </a: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no parameterless ctor.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br>
              <a:rPr sz="2800"/>
            </a:br>
            <a:br>
              <a:rPr sz="2800"/>
            </a:b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 a;     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onsolas"/>
              </a:rPr>
              <a:t>// compiler error –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onsolas"/>
              </a:rPr>
              <a:t>  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MyClass b[5]; 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onsolas"/>
              </a:rPr>
              <a:t> // no parameterless ctor.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}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title"/>
          </p:nvPr>
        </p:nvSpPr>
        <p:spPr>
          <a:xfrm>
            <a:off x="304920" y="152280"/>
            <a:ext cx="8534160" cy="76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Constructors – no default parameterless ctor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Num" idx="22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7BA8DC3B-C415-44F9-9A63-B0F96392226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9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304920" y="914400"/>
            <a:ext cx="883908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 { </a:t>
            </a:r>
            <a:br>
              <a:rPr sz="2800"/>
            </a:b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x);</a:t>
            </a: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MyClass() { };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br>
              <a:rPr sz="2800"/>
            </a:br>
            <a:br>
              <a:rPr sz="2800"/>
            </a:b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 a; </a:t>
            </a: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</a:t>
            </a:r>
            <a:r>
              <a:rPr lang="en-US" sz="2800" b="1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default</a:t>
            </a: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parameterless ctor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}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title"/>
          </p:nvPr>
        </p:nvSpPr>
        <p:spPr>
          <a:xfrm>
            <a:off x="0" y="152280"/>
            <a:ext cx="9474199" cy="76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Constructors – explicit default parameterless ctor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109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72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Destructors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2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A6DF761E-039A-4D84-80FE-1F8B567CF7D0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228600" y="109728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Goal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Ensure proper “cleanup”: </a:t>
            </a:r>
          </a:p>
          <a:p>
            <a:pPr marL="216000" indent="-216000">
              <a:lnSpc>
                <a:spcPct val="100000"/>
              </a:lnSpc>
              <a:spcBef>
                <a:spcPts val="58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Free allocated memory;</a:t>
            </a:r>
          </a:p>
          <a:p>
            <a:pPr marL="216000" indent="-216000">
              <a:lnSpc>
                <a:spcPct val="100000"/>
              </a:lnSpc>
              <a:spcBef>
                <a:spcPts val="58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opened files or db connections;</a:t>
            </a:r>
          </a:p>
          <a:p>
            <a:pPr marL="216000" indent="-216000">
              <a:lnSpc>
                <a:spcPct val="100000"/>
              </a:lnSpc>
              <a:spcBef>
                <a:spcPts val="58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Notify related objects, etc.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Called for:</a:t>
            </a:r>
          </a:p>
          <a:p>
            <a:pPr marL="216000" indent="-216000">
              <a:lnSpc>
                <a:spcPct val="100000"/>
              </a:lnSpc>
              <a:spcBef>
                <a:spcPts val="58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stack object – when it goes out of scope.</a:t>
            </a:r>
          </a:p>
          <a:p>
            <a:pPr marL="216000" indent="-216000">
              <a:lnSpc>
                <a:spcPct val="100000"/>
              </a:lnSpc>
              <a:spcBef>
                <a:spcPts val="58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heap object – when it is explicitly deleted.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28600" y="274680"/>
            <a:ext cx="8686440" cy="715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Destructors</a:t>
            </a:r>
            <a:r>
              <a:rPr lang="en-US" sz="24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 (folder 5)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24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30653F1D-E0F1-4491-A3FE-AB22F0A06173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11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228600" y="990720"/>
            <a:ext cx="4800240" cy="577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#include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2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&lt;cstdlib&gt;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200"/>
            </a:br>
            <a:r>
              <a:rPr lang="en-US" sz="2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200"/>
            </a:br>
            <a:r>
              <a:rPr lang="en-US" sz="2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MyClass();  </a:t>
            </a:r>
            <a:r>
              <a:rPr lang="en-US" sz="2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constructor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~MyClass(); </a:t>
            </a:r>
            <a:r>
              <a:rPr lang="en-US" sz="2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destructor </a:t>
            </a:r>
            <a:br>
              <a:rPr sz="2200"/>
            </a:br>
            <a:r>
              <a:rPr lang="en-US" sz="2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private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char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* _mem;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MyClass::MyClass()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_mem = </a:t>
            </a:r>
            <a:r>
              <a:rPr lang="en-US" sz="2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char[</a:t>
            </a:r>
            <a:r>
              <a:rPr lang="en-US" sz="22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1000]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MyClass::~MyClass()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</a:t>
            </a:r>
            <a:r>
              <a:rPr lang="en-US" sz="2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delete[]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_mem;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562720" y="990720"/>
            <a:ext cx="3352320" cy="5562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 a;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if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 ... )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{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   MyClass b;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   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}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AutoShape 5"/>
          <p:cNvSpPr/>
          <p:nvPr/>
        </p:nvSpPr>
        <p:spPr>
          <a:xfrm>
            <a:off x="5334120" y="4481640"/>
            <a:ext cx="309240" cy="242640"/>
          </a:xfrm>
          <a:prstGeom prst="rightArrow">
            <a:avLst>
              <a:gd name="adj1" fmla="val 50000"/>
              <a:gd name="adj2" fmla="val 31863"/>
            </a:avLst>
          </a:prstGeom>
          <a:solidFill>
            <a:srgbClr val="9B2D1F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-15480" rIns="182880" bIns="-1548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AutoShape 6"/>
          <p:cNvSpPr/>
          <p:nvPr/>
        </p:nvSpPr>
        <p:spPr>
          <a:xfrm>
            <a:off x="5334120" y="5472000"/>
            <a:ext cx="309240" cy="242640"/>
          </a:xfrm>
          <a:prstGeom prst="rightArrow">
            <a:avLst>
              <a:gd name="adj1" fmla="val 50000"/>
              <a:gd name="adj2" fmla="val 31863"/>
            </a:avLst>
          </a:prstGeom>
          <a:solidFill>
            <a:srgbClr val="CC9900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-15480" rIns="182880" bIns="-1548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AutoShape 7"/>
          <p:cNvSpPr/>
          <p:nvPr/>
        </p:nvSpPr>
        <p:spPr>
          <a:xfrm>
            <a:off x="5334120" y="2133720"/>
            <a:ext cx="309240" cy="242640"/>
          </a:xfrm>
          <a:prstGeom prst="rightArrow">
            <a:avLst>
              <a:gd name="adj1" fmla="val 50000"/>
              <a:gd name="adj2" fmla="val 31863"/>
            </a:avLst>
          </a:prstGeom>
          <a:solidFill>
            <a:srgbClr val="CC9900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-15480" rIns="182880" bIns="-1548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AutoShape 8"/>
          <p:cNvSpPr/>
          <p:nvPr/>
        </p:nvSpPr>
        <p:spPr>
          <a:xfrm>
            <a:off x="5334120" y="3581280"/>
            <a:ext cx="309240" cy="242640"/>
          </a:xfrm>
          <a:prstGeom prst="rightArrow">
            <a:avLst>
              <a:gd name="adj1" fmla="val 50000"/>
              <a:gd name="adj2" fmla="val 31863"/>
            </a:avLst>
          </a:prstGeom>
          <a:solidFill>
            <a:srgbClr val="9B2D1F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-15480" rIns="182880" bIns="-1548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Line 9"/>
          <p:cNvSpPr/>
          <p:nvPr/>
        </p:nvSpPr>
        <p:spPr>
          <a:xfrm>
            <a:off x="5257800" y="1143000"/>
            <a:ext cx="12600" cy="52927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28600" y="274680"/>
            <a:ext cx="8686440" cy="715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Destructors – common errors</a:t>
            </a:r>
            <a:r>
              <a:rPr lang="en-US" sz="24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 (folder 5)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25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19D15B3-F92C-4C92-8BDC-3529876A41C3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12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57200" y="1371600"/>
            <a:ext cx="7955280" cy="236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1. Forgetting to write a destructor. </a:t>
            </a:r>
          </a:p>
          <a:p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Might cause a memory leak.</a:t>
            </a:r>
          </a:p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2. Calling a destructor twice.</a:t>
            </a:r>
          </a:p>
          <a:p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Possible reason - shallow copy.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Memory allocation in </a:t>
            </a:r>
            <a:r>
              <a:rPr lang="en-US" sz="4000" b="0" u="none" strike="noStrike">
                <a:solidFill>
                  <a:srgbClr val="FF3333"/>
                </a:solidFill>
                <a:effectLst/>
                <a:uFillTx/>
                <a:latin typeface="Arial"/>
              </a:rPr>
              <a:t>C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DFBC4971-608A-4321-A9B1-219200081D8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228600" y="99072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IntList* L = (IntList*)malloc(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sizeof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(IntList));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not call constructor!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Internal data members are not initialized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free(L); </a:t>
            </a:r>
            <a:br>
              <a:rPr sz="3200"/>
            </a:b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not call destructor!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Internal data members are not freed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Memory allocation in </a:t>
            </a:r>
            <a:r>
              <a:rPr lang="en-US" sz="4000" b="0" u="none" strike="noStrike">
                <a:solidFill>
                  <a:srgbClr val="009933"/>
                </a:solidFill>
                <a:effectLst/>
                <a:uFillTx/>
                <a:latin typeface="Arial"/>
              </a:rPr>
              <a:t>C++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ldNum" idx="2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E150EE9A-48E8-4FD2-8E23-094A77DD749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14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228600" y="99072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10000"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Special operators: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IntList *L =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IntList;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080">
              <a:lnSpc>
                <a:spcPct val="12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OpenSymbol"/>
              <a:buAutoNum type="arabicPeriod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Allocate memory</a:t>
            </a:r>
          </a:p>
          <a:p>
            <a:pPr marL="514440" indent="-514080">
              <a:lnSpc>
                <a:spcPct val="12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OpenSymbol"/>
              <a:buAutoNum type="arabicPeriod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Call constructor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delete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L;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514080">
              <a:lnSpc>
                <a:spcPct val="12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OpenSymbol"/>
              <a:buAutoNum type="arabicPeriod"/>
              <a:tabLst>
                <a:tab pos="0" algn="l"/>
              </a:tabLst>
            </a:pP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Call destructor</a:t>
            </a:r>
          </a:p>
          <a:p>
            <a:pPr marL="285840" indent="-51408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OpenSymbol"/>
              <a:buAutoNum type="arabicPeriod"/>
              <a:tabLst>
                <a:tab pos="0" algn="l"/>
              </a:tabLst>
            </a:pP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Free memory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new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28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270CC70-50E6-4CEC-9828-7EA7A8C7217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228600" y="1722240"/>
            <a:ext cx="8686440" cy="1935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be used with any type:</a:t>
            </a: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*i =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3200"/>
            </a:b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char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**p =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(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char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*);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New &amp; Constructors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29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CF8C73FF-7444-419F-A695-765630E72DB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228600" y="99072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i 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MyClass(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x,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y 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br>
              <a:rPr sz="2400"/>
            </a:b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MyClass* a;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 =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MyClass;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Calls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 =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 {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400" b="0" u="none" strike="noStrike">
                <a:effectLst/>
                <a:uFillTx/>
                <a:latin typeface="Consolas"/>
              </a:rPr>
              <a:t>}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Calls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 =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 { 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1.0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 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0.0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};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Calls </a:t>
            </a:r>
            <a:br>
              <a:rPr sz="2400"/>
            </a:b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Oval 4"/>
          <p:cNvSpPr/>
          <p:nvPr/>
        </p:nvSpPr>
        <p:spPr>
          <a:xfrm>
            <a:off x="393840" y="2336760"/>
            <a:ext cx="352080" cy="35208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11960" rIns="182880" bIns="11196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Oval 5"/>
          <p:cNvSpPr/>
          <p:nvPr/>
        </p:nvSpPr>
        <p:spPr>
          <a:xfrm>
            <a:off x="401760" y="2744640"/>
            <a:ext cx="352080" cy="35208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11960" rIns="182880" bIns="11196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Oval 6"/>
          <p:cNvSpPr/>
          <p:nvPr/>
        </p:nvSpPr>
        <p:spPr>
          <a:xfrm>
            <a:off x="409680" y="3152880"/>
            <a:ext cx="352080" cy="35208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11960" rIns="182880" bIns="11196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Oval 7"/>
          <p:cNvSpPr/>
          <p:nvPr/>
        </p:nvSpPr>
        <p:spPr>
          <a:xfrm>
            <a:off x="4800600" y="5334120"/>
            <a:ext cx="352080" cy="35208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11960" rIns="182880" bIns="11196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Oval 8"/>
          <p:cNvSpPr/>
          <p:nvPr/>
        </p:nvSpPr>
        <p:spPr>
          <a:xfrm>
            <a:off x="5181480" y="5819760"/>
            <a:ext cx="352080" cy="35208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11960" rIns="182880" bIns="11196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Oval 9"/>
          <p:cNvSpPr/>
          <p:nvPr/>
        </p:nvSpPr>
        <p:spPr>
          <a:xfrm>
            <a:off x="6705720" y="6276960"/>
            <a:ext cx="352080" cy="352080"/>
          </a:xfrm>
          <a:prstGeom prst="ellipse">
            <a:avLst/>
          </a:prstGeom>
          <a:noFill/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2880" tIns="111960" rIns="182880" bIns="11196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04920" y="9144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New &amp; arrays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30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9838FE31-4F9B-4B49-8346-487419A4537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17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228600" y="76248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allocate arrays, use</a:t>
            </a: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*a =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[</a:t>
            </a:r>
            <a:r>
              <a:rPr lang="en-US" sz="32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10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]; </a:t>
            </a:r>
            <a:r>
              <a:rPr lang="en-US" sz="2800" b="0" u="none" strike="noStrike">
                <a:solidFill>
                  <a:srgbClr val="00CC00"/>
                </a:solidFill>
                <a:effectLst/>
                <a:uFillTx/>
                <a:latin typeface="Consolas"/>
              </a:rPr>
              <a:t>//array of 10 ints</a:t>
            </a:r>
            <a:br>
              <a:rPr sz="3200"/>
            </a:b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size_t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n = </a:t>
            </a:r>
            <a:r>
              <a:rPr lang="en-US" sz="32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4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IntList *array =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IntList[n];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array of n IntLists.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0CC00"/>
                </a:solidFill>
                <a:effectLst/>
                <a:uFillTx/>
                <a:latin typeface="Courier New"/>
              </a:rPr>
              <a:t>// - must have a parameterless ctor!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array[0].func();</a:t>
            </a:r>
            <a:br>
              <a:rPr sz="3200"/>
            </a:b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IntList* b0 =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IntList;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b0→func();</a:t>
            </a:r>
            <a:br>
              <a:rPr sz="3200"/>
            </a:b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Delete &amp; arrays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31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50201030-E8AB-4561-8B04-4C9DE6FFA190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18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228600" y="990720"/>
            <a:ext cx="8686440" cy="559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Special operation to delete arrays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*a =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[</a:t>
            </a:r>
            <a:r>
              <a:rPr lang="en-US" sz="32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10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]; </a:t>
            </a:r>
            <a:br>
              <a:rPr sz="3200"/>
            </a:b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*b =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[</a:t>
            </a:r>
            <a:r>
              <a:rPr lang="en-US" sz="32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10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]; </a:t>
            </a:r>
            <a:br>
              <a:rPr sz="3200"/>
            </a:br>
            <a:br>
              <a:rPr sz="3200"/>
            </a:b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delete []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a; </a:t>
            </a: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proper delete command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delete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b;    </a:t>
            </a: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apparently works, </a:t>
            </a:r>
            <a:br>
              <a:rPr sz="3200"/>
            </a:b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but may cause segmentation fault</a:t>
            </a:r>
            <a:br>
              <a:rPr sz="3200"/>
            </a:b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or memory leak</a:t>
            </a:r>
            <a:r>
              <a:rPr lang="en-US" sz="2400" b="1" i="1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(folder 6)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Allocate array of objects w/o def. cons.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Num" idx="32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165CBA45-23FD-451D-A22F-B08C9F0FF99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19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228600" y="99072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9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size_t 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n = </a:t>
            </a:r>
            <a:r>
              <a:rPr lang="en-US" sz="29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4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900"/>
            </a:b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MyClass **arr = </a:t>
            </a:r>
            <a:r>
              <a:rPr lang="en-US" sz="29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 *[n]; </a:t>
            </a:r>
            <a:br>
              <a:rPr sz="2900"/>
            </a:br>
            <a:r>
              <a:rPr lang="en-US" sz="29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array of n pointers to MyClass (no 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9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cons. is invoked) 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br>
              <a:rPr sz="2900"/>
            </a:br>
            <a:r>
              <a:rPr lang="en-US" sz="29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for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(</a:t>
            </a:r>
            <a:r>
              <a:rPr lang="en-US" sz="29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size_t 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i=</a:t>
            </a:r>
            <a:r>
              <a:rPr lang="en-US" sz="29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0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i&lt;n; ++i) </a:t>
            </a:r>
            <a:br>
              <a:rPr sz="2900"/>
            </a:b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900"/>
            </a:b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arr[i] = </a:t>
            </a:r>
            <a:r>
              <a:rPr lang="en-US" sz="29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MyClass (i); </a:t>
            </a:r>
            <a:br>
              <a:rPr sz="2900"/>
            </a:b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9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each pointer points to a MyClass 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9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// object allocated on the heap, and 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9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// the cons. is invoked. </a:t>
            </a:r>
            <a:br>
              <a:rPr sz="2900"/>
            </a:b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04920" y="380880"/>
            <a:ext cx="8534160" cy="79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Free an allocated array of pointers to objects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3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286FBD11-1CF9-4560-8B52-D6A8C8CBF16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304920" y="11430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9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size_t 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n = </a:t>
            </a:r>
            <a:r>
              <a:rPr lang="en-US" sz="29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4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900"/>
            </a:br>
            <a:r>
              <a:rPr lang="en-US" sz="29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for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(</a:t>
            </a:r>
            <a:r>
              <a:rPr lang="en-US" sz="29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size_t 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i=</a:t>
            </a:r>
            <a:r>
              <a:rPr lang="en-US" sz="29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0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i&lt;n; ++i) </a:t>
            </a:r>
            <a:br>
              <a:rPr sz="2900"/>
            </a:b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900"/>
            </a:b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delete (arr[i]); </a:t>
            </a:r>
            <a:br>
              <a:rPr sz="2900"/>
            </a:b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9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invoked the dest. of each MyClass 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9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// object allocated on the heap, and 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9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// free the memory. </a:t>
            </a:r>
            <a:br>
              <a:rPr sz="2900"/>
            </a:b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900"/>
            </a:b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delete [] arr; </a:t>
            </a:r>
            <a:br>
              <a:rPr sz="2900"/>
            </a:br>
            <a:r>
              <a:rPr lang="en-US" sz="29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free the memory allocated for the 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9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array of pointers. No dest. is invoked 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4320" y="351360"/>
            <a:ext cx="8534160" cy="79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RAII – Resource Acquisition Is Initialization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Num" idx="34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3ED04B83-19C0-4756-8A29-7A480595612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21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304920" y="11430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class that uses resources </a:t>
            </a:r>
            <a:r>
              <a:rPr lang="en-US" sz="3600" b="0" u="none" strike="noStrike">
                <a:solidFill>
                  <a:srgbClr val="993366"/>
                </a:solidFill>
                <a:effectLst/>
                <a:uFillTx/>
                <a:latin typeface="Arial"/>
              </a:rPr>
              <a:t>(file, memory, database, locks …)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should:</a:t>
            </a: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9933"/>
                </a:solidFill>
                <a:effectLst/>
                <a:uFillTx/>
                <a:latin typeface="Arial"/>
              </a:rPr>
              <a:t>Acquire them in the constructor.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CC"/>
                </a:solidFill>
                <a:effectLst/>
                <a:uFillTx/>
                <a:latin typeface="Arial"/>
              </a:rPr>
              <a:t>Release them in the destructor.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40240</TotalTime>
  <Words>1318</Words>
  <Application>Microsoft Office PowerPoint</Application>
  <PresentationFormat>On-screen Show (4:3)</PresentationFormat>
  <Paragraphs>169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Consolas</vt:lpstr>
      <vt:lpstr>Courier New</vt:lpstr>
      <vt:lpstr>OpenSymbol</vt:lpstr>
      <vt:lpstr>StarSymbol</vt:lpstr>
      <vt:lpstr>Symbol</vt:lpstr>
      <vt:lpstr>Times New Roman</vt:lpstr>
      <vt:lpstr>Wingdings</vt:lpstr>
      <vt:lpstr>Wingdings 2</vt:lpstr>
      <vt:lpstr>Office</vt:lpstr>
      <vt:lpstr>Constructing and Destructing</vt:lpstr>
      <vt:lpstr>PowerPoint Presentation</vt:lpstr>
      <vt:lpstr>C++ Laws of Construction and Destruction</vt:lpstr>
      <vt:lpstr>Constructors (folder 4)</vt:lpstr>
      <vt:lpstr>Constructors and Arrays (folder 4)</vt:lpstr>
      <vt:lpstr>Constructors – parameterless ctor</vt:lpstr>
      <vt:lpstr>Constructors – default parameterless ctor</vt:lpstr>
      <vt:lpstr>Constructors – no default parameterless ctor</vt:lpstr>
      <vt:lpstr>Constructors – explicit default parameterless ctor</vt:lpstr>
      <vt:lpstr>Destructors</vt:lpstr>
      <vt:lpstr>Destructors (folder 5)</vt:lpstr>
      <vt:lpstr>Destructors – common errors (folder 5)</vt:lpstr>
      <vt:lpstr>Memory allocation in C</vt:lpstr>
      <vt:lpstr>Memory allocation in C++</vt:lpstr>
      <vt:lpstr>new </vt:lpstr>
      <vt:lpstr>New &amp; Constructors</vt:lpstr>
      <vt:lpstr>New &amp; arrays</vt:lpstr>
      <vt:lpstr>Delete &amp; arrays</vt:lpstr>
      <vt:lpstr>Allocate array of objects w/o def. cons.</vt:lpstr>
      <vt:lpstr>Free an allocated array of pointers to objects</vt:lpstr>
      <vt:lpstr>RAII – Resource Acquisition Is Initialization</vt:lpstr>
    </vt:vector>
  </TitlesOfParts>
  <Company>Institute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</dc:title>
  <dc:subject/>
  <dc:creator>zomet</dc:creator>
  <dc:description/>
  <cp:lastModifiedBy>Erel Segal-Halevi</cp:lastModifiedBy>
  <cp:revision>1332</cp:revision>
  <cp:lastPrinted>1999-11-04T13:06:28Z</cp:lastPrinted>
  <dcterms:created xsi:type="dcterms:W3CDTF">1999-10-10T10:49:40Z</dcterms:created>
  <dcterms:modified xsi:type="dcterms:W3CDTF">2026-03-26T23:12:22Z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Color">
    <vt:r8>15132390</vt:r8>
  </property>
  <property fmtid="{D5CDD505-2E9C-101B-9397-08002B2CF9AE}" pid="3" name="ButtonType">
    <vt:r8>1</vt:r8>
  </property>
  <property fmtid="{D5CDD505-2E9C-101B-9397-08002B2CF9AE}" pid="4" name="Compression">
    <vt:r8>100</vt:r8>
  </property>
  <property fmtid="{D5CDD505-2E9C-101B-9397-08002B2CF9AE}" pid="5" name="DownloadIEButton">
    <vt:bool>false</vt:bool>
  </property>
  <property fmtid="{D5CDD505-2E9C-101B-9397-08002B2CF9AE}" pid="6" name="DownloadOriginal">
    <vt:bool>true</vt:bool>
  </property>
  <property fmtid="{D5CDD505-2E9C-101B-9397-08002B2CF9AE}" pid="7" name="GraphicType">
    <vt:r8>1</vt:r8>
  </property>
  <property fmtid="{D5CDD505-2E9C-101B-9397-08002B2CF9AE}" pid="8" name="HiddenSlides">
    <vt:r8>0</vt:r8>
  </property>
  <property fmtid="{D5CDD505-2E9C-101B-9397-08002B2CF9AE}" pid="9" name="HomePage">
    <vt:lpwstr>http://www.cs.huji.ac.il/~plab</vt:lpwstr>
  </property>
  <property fmtid="{D5CDD505-2E9C-101B-9397-08002B2CF9AE}" pid="10" name="HyperlinksChanged">
    <vt:bool>false</vt:bool>
  </property>
  <property fmtid="{D5CDD505-2E9C-101B-9397-08002B2CF9AE}" pid="11" name="LinkColor">
    <vt:r8>16711782</vt:r8>
  </property>
  <property fmtid="{D5CDD505-2E9C-101B-9397-08002B2CF9AE}" pid="12" name="LinksUpToDate">
    <vt:bool>false</vt:bool>
  </property>
  <property fmtid="{D5CDD505-2E9C-101B-9397-08002B2CF9AE}" pid="13" name="MMClips">
    <vt:r8>0</vt:r8>
  </property>
  <property fmtid="{D5CDD505-2E9C-101B-9397-08002B2CF9AE}" pid="14" name="MailAddress">
    <vt:lpwstr>plab@cs.huji.ac.il</vt:lpwstr>
  </property>
  <property fmtid="{D5CDD505-2E9C-101B-9397-08002B2CF9AE}" pid="15" name="NavBtnPos">
    <vt:r8>1</vt:r8>
  </property>
  <property fmtid="{D5CDD505-2E9C-101B-9397-08002B2CF9AE}" pid="16" name="Notes">
    <vt:r8>25</vt:r8>
  </property>
  <property fmtid="{D5CDD505-2E9C-101B-9397-08002B2CF9AE}" pid="17" name="Other">
    <vt:lpwstr/>
  </property>
  <property fmtid="{D5CDD505-2E9C-101B-9397-08002B2CF9AE}" pid="18" name="OutputDir">
    <vt:lpwstr>c:\temp</vt:lpwstr>
  </property>
  <property fmtid="{D5CDD505-2E9C-101B-9397-08002B2CF9AE}" pid="19" name="PresentationFormat">
    <vt:lpwstr>On-screen Show (4:3)</vt:lpwstr>
  </property>
  <property fmtid="{D5CDD505-2E9C-101B-9397-08002B2CF9AE}" pid="20" name="ScaleCrop">
    <vt:bool>false</vt:bool>
  </property>
  <property fmtid="{D5CDD505-2E9C-101B-9397-08002B2CF9AE}" pid="21" name="ScreenSize">
    <vt:r8>2</vt:r8>
  </property>
  <property fmtid="{D5CDD505-2E9C-101B-9397-08002B2CF9AE}" pid="22" name="ScreenUsage">
    <vt:r8>1</vt:r8>
  </property>
  <property fmtid="{D5CDD505-2E9C-101B-9397-08002B2CF9AE}" pid="23" name="ShareDoc">
    <vt:bool>false</vt:bool>
  </property>
  <property fmtid="{D5CDD505-2E9C-101B-9397-08002B2CF9AE}" pid="24" name="ShowNotes">
    <vt:bool>false</vt:bool>
  </property>
  <property fmtid="{D5CDD505-2E9C-101B-9397-08002B2CF9AE}" pid="25" name="Slides">
    <vt:r8>56</vt:r8>
  </property>
  <property fmtid="{D5CDD505-2E9C-101B-9397-08002B2CF9AE}" pid="26" name="TemplateType">
    <vt:r8>1</vt:r8>
  </property>
  <property fmtid="{D5CDD505-2E9C-101B-9397-08002B2CF9AE}" pid="27" name="TextColor">
    <vt:r8>0</vt:r8>
  </property>
  <property fmtid="{D5CDD505-2E9C-101B-9397-08002B2CF9AE}" pid="28" name="TransparentButton">
    <vt:r8>0</vt:r8>
  </property>
  <property fmtid="{D5CDD505-2E9C-101B-9397-08002B2CF9AE}" pid="29" name="UseBrowserColor">
    <vt:bool>true</vt:bool>
  </property>
  <property fmtid="{D5CDD505-2E9C-101B-9397-08002B2CF9AE}" pid="30" name="VisitedColor">
    <vt:r8>10040268</vt:r8>
  </property>
</Properties>
</file>