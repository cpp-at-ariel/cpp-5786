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7099300" cy="10234613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121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7000" y="812520"/>
            <a:ext cx="5345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 rtl="1"/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3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32" name="PlaceHolder 4"/>
          <p:cNvSpPr>
            <a:spLocks noGrp="1"/>
          </p:cNvSpPr>
          <p:nvPr>
            <p:ph type="dt" idx="1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33" name="PlaceHolder 5"/>
          <p:cNvSpPr>
            <a:spLocks noGrp="1"/>
          </p:cNvSpPr>
          <p:nvPr>
            <p:ph type="ftr" idx="1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4" name="PlaceHolder 6"/>
          <p:cNvSpPr>
            <a:spLocks noGrp="1"/>
          </p:cNvSpPr>
          <p:nvPr>
            <p:ph type="sldNum" idx="1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230538F-22A7-448C-B846-E80257EDD01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720" y="768240"/>
            <a:ext cx="5117760" cy="3838320"/>
          </a:xfrm>
          <a:prstGeom prst="rect">
            <a:avLst/>
          </a:prstGeom>
          <a:ln w="0">
            <a:noFill/>
          </a:ln>
        </p:spPr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946080" y="4862520"/>
            <a:ext cx="5206680" cy="460332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t">
            <a:normAutofit/>
          </a:bodyPr>
          <a:lstStyle/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does the compiler solve this in the object file? Name mangeling</a:t>
            </a: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void Foo() becomes for example foo@void and foo(int) may become foo@I32</a:t>
            </a:r>
          </a:p>
        </p:txBody>
      </p:sp>
      <p:sp>
        <p:nvSpPr>
          <p:cNvPr id="61" name="PlaceHolder 3"/>
          <p:cNvSpPr>
            <a:spLocks noGrp="1"/>
          </p:cNvSpPr>
          <p:nvPr>
            <p:ph type="sldNum" idx="20"/>
          </p:nvPr>
        </p:nvSpPr>
        <p:spPr>
          <a:xfrm>
            <a:off x="4022640" y="9723600"/>
            <a:ext cx="3076200" cy="51084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5D4EA835-CEB8-45EB-9141-51904AC35F6B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3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720" y="768240"/>
            <a:ext cx="5117760" cy="3838320"/>
          </a:xfrm>
          <a:prstGeom prst="rect">
            <a:avLst/>
          </a:prstGeom>
          <a:ln w="0">
            <a:noFill/>
          </a:ln>
        </p:spPr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946080" y="4862520"/>
            <a:ext cx="5206680" cy="460332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t">
            <a:normAutofit/>
          </a:bodyPr>
          <a:lstStyle/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does the compiler solve this in the object file? Name mangeling</a:t>
            </a: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void Foo() becomes for example foo@void and foo(int) may become foo@I32</a:t>
            </a:r>
          </a:p>
        </p:txBody>
      </p:sp>
      <p:sp>
        <p:nvSpPr>
          <p:cNvPr id="64" name="PlaceHolder 3"/>
          <p:cNvSpPr>
            <a:spLocks noGrp="1"/>
          </p:cNvSpPr>
          <p:nvPr>
            <p:ph type="sldNum" idx="21"/>
          </p:nvPr>
        </p:nvSpPr>
        <p:spPr>
          <a:xfrm>
            <a:off x="4022640" y="9723600"/>
            <a:ext cx="3076200" cy="51084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266FCF2A-F281-410D-92CC-A217BFE443B7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4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bg>
      <p:bgPr>
        <a:gradFill rotWithShape="0">
          <a:gsLst>
            <a:gs pos="0">
              <a:srgbClr val="000000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מלבן 8" hidden="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מלבן מעוגל 7" hidden="1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מלבן 1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מלבן מעוגל 12"/>
          <p:cNvSpPr/>
          <p:nvPr/>
        </p:nvSpPr>
        <p:spPr>
          <a:xfrm>
            <a:off x="65160" y="69840"/>
            <a:ext cx="9012960" cy="669168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dt" idx="1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1724D333-6D9B-409C-B1DA-A76387DACA54}" type="datetime"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2026-03-21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2"/>
          </p:nvPr>
        </p:nvSpPr>
        <p:spPr>
          <a:xfrm>
            <a:off x="228600" y="6172200"/>
            <a:ext cx="4647960" cy="45684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3"/>
          </p:nvPr>
        </p:nvSpPr>
        <p:spPr>
          <a:xfrm>
            <a:off x="0" y="6553080"/>
            <a:ext cx="304560" cy="30456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975ACDB9-D04E-40F3-B128-31A36919FC22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63000" y="1449360"/>
            <a:ext cx="9021240" cy="1527120"/>
          </a:xfrm>
          <a:prstGeom prst="rect">
            <a:avLst/>
          </a:prstGeom>
          <a:solidFill>
            <a:srgbClr val="D34817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מלבן 9"/>
          <p:cNvSpPr/>
          <p:nvPr/>
        </p:nvSpPr>
        <p:spPr>
          <a:xfrm>
            <a:off x="63000" y="1396800"/>
            <a:ext cx="9021240" cy="120240"/>
          </a:xfrm>
          <a:prstGeom prst="rect">
            <a:avLst/>
          </a:prstGeom>
          <a:solidFill>
            <a:srgbClr val="E5B1AB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מלבן 10"/>
          <p:cNvSpPr/>
          <p:nvPr/>
        </p:nvSpPr>
        <p:spPr>
          <a:xfrm>
            <a:off x="63000" y="2976480"/>
            <a:ext cx="9021240" cy="110160"/>
          </a:xfrm>
          <a:prstGeom prst="rect">
            <a:avLst/>
          </a:prstGeom>
          <a:solidFill>
            <a:srgbClr val="918485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title"/>
          </p:nvPr>
        </p:nvSpPr>
        <p:spPr>
          <a:xfrm>
            <a:off x="457200" y="1505880"/>
            <a:ext cx="8229240" cy="146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לחץ כדי לערוך סגנון כותרת של תבנית בסיס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שקופית כותרת">
    <p:bg>
      <p:bgPr>
        <a:gradFill rotWithShape="0">
          <a:gsLst>
            <a:gs pos="0">
              <a:srgbClr val="000000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8" hidden="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מלבן מעוגל 7" hidden="1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מלבן 1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מלבן מעוגל 12"/>
          <p:cNvSpPr/>
          <p:nvPr/>
        </p:nvSpPr>
        <p:spPr>
          <a:xfrm>
            <a:off x="65160" y="69840"/>
            <a:ext cx="9012960" cy="669168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dt" idx="4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4779A67B-0A23-4C40-AF1C-4C1758DBA7F2}" type="datetime"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2026-03-21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ftr" idx="5"/>
          </p:nvPr>
        </p:nvSpPr>
        <p:spPr>
          <a:xfrm>
            <a:off x="228600" y="6172200"/>
            <a:ext cx="4647960" cy="45684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sldNum" idx="6"/>
          </p:nvPr>
        </p:nvSpPr>
        <p:spPr>
          <a:xfrm>
            <a:off x="0" y="6553080"/>
            <a:ext cx="304560" cy="30456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531322B8-C889-4AE2-9C3E-8E2FF829254C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63000" y="1449360"/>
            <a:ext cx="9021240" cy="1527120"/>
          </a:xfrm>
          <a:prstGeom prst="rect">
            <a:avLst/>
          </a:prstGeom>
          <a:solidFill>
            <a:srgbClr val="D34817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מלבן 9"/>
          <p:cNvSpPr/>
          <p:nvPr/>
        </p:nvSpPr>
        <p:spPr>
          <a:xfrm>
            <a:off x="63000" y="1396800"/>
            <a:ext cx="9021240" cy="120240"/>
          </a:xfrm>
          <a:prstGeom prst="rect">
            <a:avLst/>
          </a:prstGeom>
          <a:solidFill>
            <a:srgbClr val="E5B1AB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מלבן 10"/>
          <p:cNvSpPr/>
          <p:nvPr/>
        </p:nvSpPr>
        <p:spPr>
          <a:xfrm>
            <a:off x="63000" y="2976480"/>
            <a:ext cx="9021240" cy="110160"/>
          </a:xfrm>
          <a:prstGeom prst="rect">
            <a:avLst/>
          </a:prstGeom>
          <a:solidFill>
            <a:srgbClr val="918485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title"/>
          </p:nvPr>
        </p:nvSpPr>
        <p:spPr>
          <a:xfrm>
            <a:off x="457200" y="1505880"/>
            <a:ext cx="8229240" cy="146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לחץ כדי לערוך סגנון כותרת של תבנית בסיס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ריק">
    <p:bg>
      <p:bgPr>
        <a:gradFill rotWithShape="0">
          <a:gsLst>
            <a:gs pos="0">
              <a:srgbClr val="000000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מלבן 8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מלבן מעוגל 7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dt" idx="7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9A79C15C-AC01-45EB-8A22-093FEC2BC474}" type="datetime"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2026-03-21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ftr" idx="8"/>
          </p:nvPr>
        </p:nvSpPr>
        <p:spPr>
          <a:xfrm>
            <a:off x="228600" y="6172200"/>
            <a:ext cx="4647960" cy="45684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/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sldNum" idx="9"/>
          </p:nvPr>
        </p:nvSpPr>
        <p:spPr>
          <a:xfrm>
            <a:off x="0" y="6553080"/>
            <a:ext cx="304560" cy="30456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BCEB2CB4-2B2F-4958-9741-C88A457C6EA8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r" rtl="1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bg>
      <p:bgPr>
        <a:gradFill rotWithShape="0">
          <a:gsLst>
            <a:gs pos="0">
              <a:srgbClr val="000000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מלבן 8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מלבן מעוגל 7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לחץ כדי לערוך סגנון כותרת של תבנית בסיס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10"/>
          </p:nvPr>
        </p:nvSpPr>
        <p:spPr>
          <a:xfrm>
            <a:off x="0" y="6553080"/>
            <a:ext cx="304560" cy="30456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5FB49343-4313-4DEF-8741-9A46AEEA9E9E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304920" y="914400"/>
            <a:ext cx="8534160" cy="571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Levelלחץ כדי לערוך סגנונות טקסט של תבנית בסיס</a:t>
            </a:r>
          </a:p>
          <a:p>
            <a:pPr marL="3456000" lvl="7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שנייה</a:t>
            </a:r>
          </a:p>
          <a:p>
            <a:pPr marL="3888000" lvl="8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שלישית</a:t>
            </a:r>
          </a:p>
          <a:p>
            <a:pPr marL="4320000" lvl="0" indent="-216000">
              <a:lnSpc>
                <a:spcPct val="100000"/>
              </a:lnSpc>
              <a:spcBef>
                <a:spcPts val="37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רביעית</a:t>
            </a:r>
          </a:p>
          <a:p>
            <a:pPr marL="4320000" lvl="0" indent="-216000">
              <a:lnSpc>
                <a:spcPct val="100000"/>
              </a:lnSpc>
              <a:spcBef>
                <a:spcPts val="37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חמישית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godbolt.org/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sldNum" idx="14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B418A59B-861E-4AE8-BF06-7153AC7E6949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title"/>
          </p:nvPr>
        </p:nvSpPr>
        <p:spPr>
          <a:xfrm>
            <a:off x="457200" y="1505880"/>
            <a:ext cx="8229240" cy="146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Overloading in C++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/>
          </p:nvPr>
        </p:nvSpPr>
        <p:spPr>
          <a:xfrm>
            <a:off x="304920" y="914400"/>
            <a:ext cx="8534160" cy="571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#include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&lt;stdio.h&gt;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void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foo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()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printf (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"foo()\n"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);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 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void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foo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(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n)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printf (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"foo(%d)\n"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, n);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 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main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()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foo(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12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);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foo();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return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0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2500" lnSpcReduction="1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Function overloading - C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sldNum" idx="15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D2456760-6EE9-4042-A5DD-9CEF3C30F08F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Line 4"/>
          <p:cNvSpPr/>
          <p:nvPr/>
        </p:nvSpPr>
        <p:spPr>
          <a:xfrm>
            <a:off x="5333760" y="1012680"/>
            <a:ext cx="360" cy="56419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37160" rIns="182880" bIns="137160" anchor="ctr" anchorCtr="1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Box 5"/>
          <p:cNvSpPr/>
          <p:nvPr/>
        </p:nvSpPr>
        <p:spPr>
          <a:xfrm>
            <a:off x="5486400" y="1012680"/>
            <a:ext cx="3466800" cy="21034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37160" rIns="182880" bIns="137160" anchor="t">
            <a:spAutoFit/>
          </a:bodyPr>
          <a:lstStyle/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Compilation output: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FF0000"/>
                </a:solidFill>
                <a:effectLst/>
                <a:uFillTx/>
                <a:latin typeface="Consolas"/>
              </a:rPr>
              <a:t>Error: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FF0000"/>
                </a:solidFill>
                <a:effectLst/>
                <a:uFillTx/>
                <a:latin typeface="Consolas"/>
              </a:rPr>
              <a:t>Multiple definition of foo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2500" lnSpcReduction="1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Function overloading – C++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ldNum" idx="16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3F99A065-8204-49D7-BD1F-9D4F806680EC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/>
          </p:nvPr>
        </p:nvSpPr>
        <p:spPr>
          <a:xfrm>
            <a:off x="307440" y="632520"/>
            <a:ext cx="8534160" cy="571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#include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&lt;iostream&gt;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void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foo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() {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std::cout &lt;&lt; 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"foo()\n"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 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void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foo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(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n)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std::cout&lt;&lt;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"foo("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&lt;&lt;n&lt;&lt;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")\n"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 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main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()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foo(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12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);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foo();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Line 4"/>
          <p:cNvSpPr/>
          <p:nvPr/>
        </p:nvSpPr>
        <p:spPr>
          <a:xfrm>
            <a:off x="5790960" y="1066680"/>
            <a:ext cx="360" cy="56419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37160" rIns="182880" bIns="137160" anchor="ctr" anchorCtr="1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Box 5"/>
          <p:cNvSpPr/>
          <p:nvPr/>
        </p:nvSpPr>
        <p:spPr>
          <a:xfrm>
            <a:off x="5867280" y="1012680"/>
            <a:ext cx="3276360" cy="22557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37160" rIns="182880" bIns="137160" anchor="t">
            <a:spAutoFit/>
          </a:bodyPr>
          <a:lstStyle/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Output: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Compile, and print: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foo(12)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foo()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2500" lnSpcReduction="1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Default parameters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17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A5FA3546-B28F-4EA4-81C6-5B0101514E68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304920" y="838080"/>
            <a:ext cx="8534160" cy="571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#include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28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&lt;iostream&gt;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br>
              <a:rPr sz="2800"/>
            </a:b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void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foo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(</a:t>
            </a: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n=5) 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std::cout &lt;&lt; n; 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br>
              <a:rPr sz="2800"/>
            </a:b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main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() 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   foo(); 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Line 4"/>
          <p:cNvSpPr/>
          <p:nvPr/>
        </p:nvSpPr>
        <p:spPr>
          <a:xfrm>
            <a:off x="5790960" y="1066680"/>
            <a:ext cx="360" cy="56419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37160" rIns="182880" bIns="137160" anchor="ctr" anchorCtr="1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Box 5"/>
          <p:cNvSpPr/>
          <p:nvPr/>
        </p:nvSpPr>
        <p:spPr>
          <a:xfrm>
            <a:off x="5867280" y="1012680"/>
            <a:ext cx="3276360" cy="18900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37160" rIns="182880" bIns="137160" anchor="t">
            <a:spAutoFit/>
          </a:bodyPr>
          <a:lstStyle/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Output: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Compile, and print: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foo(5)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2500" lnSpcReduction="1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Overload resolution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ldNum" idx="18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B2AC019D-CC40-4F19-A998-73BE80F0D6F7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244080" y="1188720"/>
            <a:ext cx="8534160" cy="4663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514440" indent="-514080">
              <a:lnSpc>
                <a:spcPct val="100000"/>
              </a:lnSpc>
              <a:spcBef>
                <a:spcPts val="581"/>
              </a:spcBef>
              <a:buClr>
                <a:srgbClr val="D34817"/>
              </a:buClr>
              <a:buSzPct val="85000"/>
              <a:buFont typeface="OpenSymbol"/>
              <a:buAutoNum type="arabicPeriod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Find all functions with same name “candidates”. Let’s call them O1.</a:t>
            </a:r>
          </a:p>
          <a:p>
            <a:pPr marL="514440" indent="-514080">
              <a:lnSpc>
                <a:spcPct val="100000"/>
              </a:lnSpc>
              <a:spcBef>
                <a:spcPts val="581"/>
              </a:spcBef>
              <a:buClr>
                <a:srgbClr val="D34817"/>
              </a:buClr>
              <a:buSzPct val="85000"/>
              <a:buFont typeface="OpenSymbol"/>
              <a:buAutoNum type="arabicPeriod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Find O2 subset of O1 which have the correct number of arguments -  “viable candidates”</a:t>
            </a:r>
          </a:p>
          <a:p>
            <a:pPr marL="514440" indent="-514080">
              <a:lnSpc>
                <a:spcPct val="100000"/>
              </a:lnSpc>
              <a:spcBef>
                <a:spcPts val="581"/>
              </a:spcBef>
              <a:buClr>
                <a:srgbClr val="D34817"/>
              </a:buClr>
              <a:buSzPct val="85000"/>
              <a:buFont typeface="OpenSymbol"/>
              <a:buAutoNum type="arabicPeriod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Find O3 subset of O2 with best matching arguments.</a:t>
            </a: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if |O3|=1</a:t>
            </a: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	 use that function.</a:t>
            </a: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else (0 or more than 1):</a:t>
            </a: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	 emit compilation error.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2500" lnSpcReduction="1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Overload – Examples (folder 0)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ldNum" idx="19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8CE04675-0CA8-453C-9CF6-5E00BC378D09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6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170640" y="1042200"/>
            <a:ext cx="8534160" cy="93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spcBef>
                <a:spcPts val="581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power functions;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81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How does it work?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spcBef>
                <a:spcPts val="113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Try the following in </a:t>
            </a:r>
            <a:r>
              <a:rPr lang="en-US" sz="3600" b="0" u="none" strike="noStrike">
                <a:solidFill>
                  <a:srgbClr val="0000FF"/>
                </a:solidFill>
                <a:effectLst/>
                <a:uFillTx/>
                <a:latin typeface="Arial"/>
                <a:hlinkClick r:id="rId2"/>
              </a:rPr>
              <a:t>http://godbolt.org</a:t>
            </a:r>
            <a:r>
              <a:rPr lang="en-US" sz="36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 , first in C mode and then in C++ mode: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714680" y="3735000"/>
            <a:ext cx="6358320" cy="3023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#include &lt;math.h&gt; /* log,exp */</a:t>
            </a:r>
          </a:p>
          <a:p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 power(int a, unsigned int b)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return b==0? 1: a*power(a,b-1);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}</a:t>
            </a:r>
          </a:p>
          <a:p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 power(double a, double b)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return exp(b*log(a));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39452</TotalTime>
  <Words>462</Words>
  <Application>Microsoft Office PowerPoint</Application>
  <PresentationFormat>On-screen Show (4:3)</PresentationFormat>
  <Paragraphs>50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Consolas</vt:lpstr>
      <vt:lpstr>OpenSymbol</vt:lpstr>
      <vt:lpstr>Symbol</vt:lpstr>
      <vt:lpstr>Times New Roman</vt:lpstr>
      <vt:lpstr>Wingdings</vt:lpstr>
      <vt:lpstr>Office</vt:lpstr>
      <vt:lpstr>Overloading in C++</vt:lpstr>
      <vt:lpstr>Function overloading - C</vt:lpstr>
      <vt:lpstr>Function overloading – C++</vt:lpstr>
      <vt:lpstr>Default parameters</vt:lpstr>
      <vt:lpstr>Overload resolution</vt:lpstr>
      <vt:lpstr>Overload – Examples (folder 0)</vt:lpstr>
    </vt:vector>
  </TitlesOfParts>
  <Company>Institute of Computer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Erel Segal-Halevi</dc:creator>
  <cp:lastModifiedBy>Erel Segal-Halevi</cp:lastModifiedBy>
  <cp:revision>1</cp:revision>
  <dcterms:modified xsi:type="dcterms:W3CDTF">2026-03-21T21:38:53Z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1999-10-10T10:49:40Z</dcterms:created>
  <dc:creator>zomet</dc:creator>
  <dc:description/>
  <dc:language>en-US</dc:language>
  <cp:lastModifiedBy/>
  <cp:lastPrinted>1999-11-04T13:06:28Z</cp:lastPrinted>
  <dcterms:modified xsi:type="dcterms:W3CDTF">2026-03-21T23:37:16Z</dcterms:modified>
  <cp:revision>1150</cp:revision>
  <dc:subject/>
  <dc:title>History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ackColor">
    <vt:r8>15132390</vt:r8>
  </property>
  <property fmtid="{D5CDD505-2E9C-101B-9397-08002B2CF9AE}" pid="3" name="ButtonType">
    <vt:r8>1</vt:r8>
  </property>
  <property fmtid="{D5CDD505-2E9C-101B-9397-08002B2CF9AE}" pid="4" name="Compression">
    <vt:r8>100</vt:r8>
  </property>
  <property fmtid="{D5CDD505-2E9C-101B-9397-08002B2CF9AE}" pid="5" name="DownloadIEButton">
    <vt:bool>false</vt:bool>
  </property>
  <property fmtid="{D5CDD505-2E9C-101B-9397-08002B2CF9AE}" pid="6" name="DownloadOriginal">
    <vt:bool>true</vt:bool>
  </property>
  <property fmtid="{D5CDD505-2E9C-101B-9397-08002B2CF9AE}" pid="7" name="GraphicType">
    <vt:r8>1</vt:r8>
  </property>
  <property fmtid="{D5CDD505-2E9C-101B-9397-08002B2CF9AE}" pid="8" name="HiddenSlides">
    <vt:r8>0</vt:r8>
  </property>
  <property fmtid="{D5CDD505-2E9C-101B-9397-08002B2CF9AE}" pid="9" name="HomePage">
    <vt:lpwstr>http://www.cs.huji.ac.il/~plab</vt:lpwstr>
  </property>
  <property fmtid="{D5CDD505-2E9C-101B-9397-08002B2CF9AE}" pid="10" name="HyperlinksChanged">
    <vt:bool>false</vt:bool>
  </property>
  <property fmtid="{D5CDD505-2E9C-101B-9397-08002B2CF9AE}" pid="11" name="LinkColor">
    <vt:r8>16711782</vt:r8>
  </property>
  <property fmtid="{D5CDD505-2E9C-101B-9397-08002B2CF9AE}" pid="12" name="LinksUpToDate">
    <vt:bool>false</vt:bool>
  </property>
  <property fmtid="{D5CDD505-2E9C-101B-9397-08002B2CF9AE}" pid="13" name="MMClips">
    <vt:r8>0</vt:r8>
  </property>
  <property fmtid="{D5CDD505-2E9C-101B-9397-08002B2CF9AE}" pid="14" name="MailAddress">
    <vt:lpwstr>plab@cs.huji.ac.il</vt:lpwstr>
  </property>
  <property fmtid="{D5CDD505-2E9C-101B-9397-08002B2CF9AE}" pid="15" name="NavBtnPos">
    <vt:r8>1</vt:r8>
  </property>
  <property fmtid="{D5CDD505-2E9C-101B-9397-08002B2CF9AE}" pid="16" name="Notes">
    <vt:r8>12</vt:r8>
  </property>
  <property fmtid="{D5CDD505-2E9C-101B-9397-08002B2CF9AE}" pid="17" name="Other">
    <vt:lpwstr/>
  </property>
  <property fmtid="{D5CDD505-2E9C-101B-9397-08002B2CF9AE}" pid="18" name="OutputDir">
    <vt:lpwstr>c:\temp</vt:lpwstr>
  </property>
  <property fmtid="{D5CDD505-2E9C-101B-9397-08002B2CF9AE}" pid="19" name="PresentationFormat">
    <vt:lpwstr>‫הצגה על המסך (4:3)</vt:lpwstr>
  </property>
  <property fmtid="{D5CDD505-2E9C-101B-9397-08002B2CF9AE}" pid="20" name="ScaleCrop">
    <vt:bool>false</vt:bool>
  </property>
  <property fmtid="{D5CDD505-2E9C-101B-9397-08002B2CF9AE}" pid="21" name="ScreenSize">
    <vt:r8>2</vt:r8>
  </property>
  <property fmtid="{D5CDD505-2E9C-101B-9397-08002B2CF9AE}" pid="22" name="ScreenUsage">
    <vt:r8>1</vt:r8>
  </property>
  <property fmtid="{D5CDD505-2E9C-101B-9397-08002B2CF9AE}" pid="23" name="ShareDoc">
    <vt:bool>false</vt:bool>
  </property>
  <property fmtid="{D5CDD505-2E9C-101B-9397-08002B2CF9AE}" pid="24" name="ShowNotes">
    <vt:bool>false</vt:bool>
  </property>
  <property fmtid="{D5CDD505-2E9C-101B-9397-08002B2CF9AE}" pid="25" name="Slides">
    <vt:r8>26</vt:r8>
  </property>
  <property fmtid="{D5CDD505-2E9C-101B-9397-08002B2CF9AE}" pid="26" name="TemplateType">
    <vt:r8>1</vt:r8>
  </property>
  <property fmtid="{D5CDD505-2E9C-101B-9397-08002B2CF9AE}" pid="27" name="TextColor">
    <vt:r8>0</vt:r8>
  </property>
  <property fmtid="{D5CDD505-2E9C-101B-9397-08002B2CF9AE}" pid="28" name="TransparentButton">
    <vt:r8>0</vt:r8>
  </property>
  <property fmtid="{D5CDD505-2E9C-101B-9397-08002B2CF9AE}" pid="29" name="UseBrowserColor">
    <vt:bool>true</vt:bool>
  </property>
  <property fmtid="{D5CDD505-2E9C-101B-9397-08002B2CF9AE}" pid="30" name="VisitedColor">
    <vt:r8>10040268</vt:r8>
  </property>
</Properties>
</file>