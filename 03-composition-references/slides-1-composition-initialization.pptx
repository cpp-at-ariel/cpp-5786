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365459-0110-4C55-9E7B-684766064B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Box 1"/>
          <p:cNvSpPr/>
          <p:nvPr/>
        </p:nvSpPr>
        <p:spPr>
          <a:xfrm>
            <a:off x="2219400" y="776160"/>
            <a:ext cx="2661840" cy="38383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82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ctr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6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9A60ECBD-C3F9-4C9E-A67F-1849D3D1C7C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31418B6-B690-4FCA-A63E-1FCB9EFBB74D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35A1E01-5DDC-4014-92ED-95EDA007340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AFF89C1-6251-4FB7-8BB8-91E7C26761A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dt" idx="5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2881511-0ADF-42C6-8F5A-39CD99F63FBC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6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7DC5BB9-D206-46D3-9DBA-9C416E90C43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dt" idx="8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65D4CDF4-7E8B-4A9D-94D7-F1B336F251E1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9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838EB97-42D2-420A-9623-A11A648A0D1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76FF5CD-67A3-4CEC-8828-24F8AD5AC10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Composition and initialization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כותרת משנה 3"/>
          <p:cNvSpPr txBox="1"/>
          <p:nvPr/>
        </p:nvSpPr>
        <p:spPr>
          <a:xfrm>
            <a:off x="1646280" y="411480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Composition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768960"/>
            <a:ext cx="6035040" cy="255309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4000" b="0" u="none" strike="noStrike">
                <a:effectLst/>
                <a:uFillTx/>
                <a:latin typeface="Arial"/>
              </a:rPr>
              <a:t>class Line {</a:t>
            </a:r>
          </a:p>
          <a:p>
            <a:r>
              <a:rPr lang="en-US" sz="4000" b="0" u="none" strike="noStrike">
                <a:effectLst/>
                <a:uFillTx/>
                <a:latin typeface="Arial"/>
              </a:rPr>
              <a:t>	Point p1, p2;</a:t>
            </a:r>
          </a:p>
          <a:p>
            <a:r>
              <a:rPr lang="en-US" sz="4000" b="0" u="none" strike="noStrike">
                <a:effectLst/>
                <a:uFillTx/>
                <a:latin typeface="Arial"/>
              </a:rPr>
              <a:t>};</a:t>
            </a:r>
          </a:p>
          <a:p>
            <a:endParaRPr lang="en-US" sz="4000" b="0" u="none" strike="noStrike">
              <a:effectLst/>
              <a:uFillTx/>
              <a:latin typeface="Arial"/>
            </a:endParaRPr>
          </a:p>
        </p:txBody>
      </p:sp>
      <p:graphicFrame>
        <p:nvGraphicFramePr>
          <p:cNvPr id="49" name="Table 48"/>
          <p:cNvGraphicFramePr/>
          <p:nvPr/>
        </p:nvGraphicFramePr>
        <p:xfrm>
          <a:off x="3073320" y="3237120"/>
          <a:ext cx="5799600" cy="1645920"/>
        </p:xfrm>
        <a:graphic>
          <a:graphicData uri="http://schemas.openxmlformats.org/drawingml/2006/table">
            <a:tbl>
              <a:tblPr/>
              <a:tblGrid>
                <a:gridCol w="276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72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480"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Members are </a:t>
                      </a: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objects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Members are </a:t>
                      </a: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pointers</a:t>
                      </a:r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03B68D5-D25D-408C-BDD0-8688AAC5FBC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1" name="Table 50"/>
          <p:cNvGraphicFramePr/>
          <p:nvPr/>
        </p:nvGraphicFramePr>
        <p:xfrm>
          <a:off x="392040" y="357480"/>
          <a:ext cx="8563680" cy="5768640"/>
        </p:xfrm>
        <a:graphic>
          <a:graphicData uri="http://schemas.openxmlformats.org/drawingml/2006/table">
            <a:tbl>
              <a:tblPr/>
              <a:tblGrid>
                <a:gridCol w="276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12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Stack: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82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Heap: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``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04560" y="6126480"/>
            <a:ext cx="8595360" cy="4572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main () {  Line line; 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delete pline;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Table 52"/>
          <p:cNvGraphicFramePr/>
          <p:nvPr/>
        </p:nvGraphicFramePr>
        <p:xfrm>
          <a:off x="4029120" y="1280520"/>
          <a:ext cx="1386000" cy="2010960"/>
        </p:xfrm>
        <a:graphic>
          <a:graphicData uri="http://schemas.openxmlformats.org/drawingml/2006/table">
            <a:tbl>
              <a:tblPr/>
              <a:tblGrid>
                <a:gridCol w="138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56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line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.p1.x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line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.p1.y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line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.p2.x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4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line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.p2.y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/>
          <p:nvPr/>
        </p:nvGraphicFramePr>
        <p:xfrm>
          <a:off x="7098480" y="1696320"/>
          <a:ext cx="673560" cy="376920"/>
        </p:xfrm>
        <a:graphic>
          <a:graphicData uri="http://schemas.openxmlformats.org/drawingml/2006/table">
            <a:tbl>
              <a:tblPr/>
              <a:tblGrid>
                <a:gridCol w="67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/>
          <p:nvPr/>
        </p:nvGraphicFramePr>
        <p:xfrm>
          <a:off x="7530120" y="5282280"/>
          <a:ext cx="730440" cy="754920"/>
        </p:xfrm>
        <a:graphic>
          <a:graphicData uri="http://schemas.openxmlformats.org/drawingml/2006/table">
            <a:tbl>
              <a:tblPr/>
              <a:tblGrid>
                <a:gridCol w="73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p2.x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p2.y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/>
          <p:nvPr/>
        </p:nvGraphicFramePr>
        <p:xfrm>
          <a:off x="6081840" y="4320000"/>
          <a:ext cx="742320" cy="754920"/>
        </p:xfrm>
        <a:graphic>
          <a:graphicData uri="http://schemas.openxmlformats.org/drawingml/2006/table">
            <a:tbl>
              <a:tblPr/>
              <a:tblGrid>
                <a:gridCol w="74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/>
          <p:nvPr/>
        </p:nvGraphicFramePr>
        <p:xfrm>
          <a:off x="7397640" y="3656160"/>
          <a:ext cx="716400" cy="754920"/>
        </p:xfrm>
        <a:graphic>
          <a:graphicData uri="http://schemas.openxmlformats.org/drawingml/2006/table">
            <a:tbl>
              <a:tblPr/>
              <a:tblGrid>
                <a:gridCol w="71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p1.x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p1.y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" name="Straight Connector 57"/>
          <p:cNvSpPr/>
          <p:nvPr/>
        </p:nvSpPr>
        <p:spPr>
          <a:xfrm flipV="1">
            <a:off x="6824160" y="4023360"/>
            <a:ext cx="573480" cy="54864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traight Connector 58"/>
          <p:cNvSpPr/>
          <p:nvPr/>
        </p:nvSpPr>
        <p:spPr>
          <a:xfrm flipH="1">
            <a:off x="6217920" y="2103120"/>
            <a:ext cx="1097280" cy="219456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traight Connector 59"/>
          <p:cNvSpPr/>
          <p:nvPr/>
        </p:nvSpPr>
        <p:spPr>
          <a:xfrm>
            <a:off x="6858000" y="4846320"/>
            <a:ext cx="672120" cy="54864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Construction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D2A9292-998C-4B11-A98D-F6B526E98B8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04920" y="2133720"/>
            <a:ext cx="8838720" cy="464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A()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 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"A -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"parameterless"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 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Box 4"/>
          <p:cNvSpPr/>
          <p:nvPr/>
        </p:nvSpPr>
        <p:spPr>
          <a:xfrm>
            <a:off x="3828240" y="685800"/>
            <a:ext cx="6458400" cy="3566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"B – parameterless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   "ctor\n"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Line 6"/>
          <p:cNvSpPr/>
          <p:nvPr/>
        </p:nvSpPr>
        <p:spPr>
          <a:xfrm>
            <a:off x="3886200" y="914400"/>
            <a:ext cx="360" cy="5715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4114800" y="5334120"/>
            <a:ext cx="5028840" cy="13712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B050"/>
                </a:solidFill>
                <a:effectLst/>
                <a:uFillTx/>
                <a:latin typeface="Courier New"/>
              </a:rPr>
              <a:t>Question: In what order are the constructors called?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Construction order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152BECF-90A9-4C81-B1CA-4A8AEFC1F40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304920" y="2133720"/>
            <a:ext cx="8838720" cy="464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A()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 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"A -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"parameterless"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 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Box 4"/>
          <p:cNvSpPr/>
          <p:nvPr/>
        </p:nvSpPr>
        <p:spPr>
          <a:xfrm>
            <a:off x="3828240" y="685800"/>
            <a:ext cx="6458400" cy="3566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"B – parameterless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   "ctor\n"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Line 6"/>
          <p:cNvSpPr/>
          <p:nvPr/>
        </p:nvSpPr>
        <p:spPr>
          <a:xfrm>
            <a:off x="3886200" y="914400"/>
            <a:ext cx="360" cy="5715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4114800" y="5334120"/>
            <a:ext cx="5028840" cy="13712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B050"/>
                </a:solidFill>
                <a:effectLst/>
                <a:uFillTx/>
                <a:latin typeface="Courier New"/>
              </a:rPr>
              <a:t>// Answer: small to large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– parameterless 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– parameterless 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 - parameterless 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Destruction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71A401E-5B1B-4966-90C3-7CF247A13D3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04920" y="2133720"/>
            <a:ext cx="3992760" cy="464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~A()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 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"A -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 dtor\n"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Box 4"/>
          <p:cNvSpPr/>
          <p:nvPr/>
        </p:nvSpPr>
        <p:spPr>
          <a:xfrm>
            <a:off x="3828240" y="685800"/>
            <a:ext cx="4858560" cy="3200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~B()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"B – dtor\n"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Line 6"/>
          <p:cNvSpPr/>
          <p:nvPr/>
        </p:nvSpPr>
        <p:spPr>
          <a:xfrm>
            <a:off x="3886200" y="914400"/>
            <a:ext cx="360" cy="5715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4114800" y="5334120"/>
            <a:ext cx="5028840" cy="13712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B050"/>
                </a:solidFill>
                <a:effectLst/>
                <a:uFillTx/>
                <a:latin typeface="Courier New"/>
              </a:rPr>
              <a:t>Question: In what order are the destructors called?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Destruction order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2F779577-85F9-49CD-A0C1-42E1E2E2B22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04920" y="2133720"/>
            <a:ext cx="3992760" cy="464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A() { …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~A()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 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"A -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  " dtor\n"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Box 4"/>
          <p:cNvSpPr/>
          <p:nvPr/>
        </p:nvSpPr>
        <p:spPr>
          <a:xfrm>
            <a:off x="3828240" y="685800"/>
            <a:ext cx="4858560" cy="3566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B() {...}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~B()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urier New"/>
              </a:rPr>
              <a:t>"B – dtor\n"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Line 6"/>
          <p:cNvSpPr/>
          <p:nvPr/>
        </p:nvSpPr>
        <p:spPr>
          <a:xfrm>
            <a:off x="3886200" y="914400"/>
            <a:ext cx="360" cy="5715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8"/>
          <p:cNvSpPr/>
          <p:nvPr/>
        </p:nvSpPr>
        <p:spPr>
          <a:xfrm>
            <a:off x="4114800" y="5334120"/>
            <a:ext cx="5028840" cy="13712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B050"/>
                </a:solidFill>
                <a:effectLst/>
                <a:uFillTx/>
                <a:latin typeface="Courier New"/>
              </a:rPr>
              <a:t>// Answer: large to small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 - dtor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– dtor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– dtor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85000"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The paramaterless ctor (aka </a:t>
            </a:r>
            <a:r>
              <a:rPr lang="en-US" sz="4000" b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default ctor</a:t>
            </a: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CFF50B2-A135-4E09-BF6A-150519B26C9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04920" y="2209680"/>
            <a:ext cx="8915040" cy="487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A(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ctor with one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   parameter\n"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}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Line 5"/>
          <p:cNvSpPr/>
          <p:nvPr/>
        </p:nvSpPr>
        <p:spPr>
          <a:xfrm>
            <a:off x="3733560" y="838080"/>
            <a:ext cx="360" cy="50292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2209680" y="5486400"/>
            <a:ext cx="6650640" cy="9140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// compilation 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No parameterless ctor for _a1, _a2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מלבן 1"/>
          <p:cNvSpPr/>
          <p:nvPr/>
        </p:nvSpPr>
        <p:spPr>
          <a:xfrm>
            <a:off x="609480" y="3352680"/>
            <a:ext cx="1676160" cy="456840"/>
          </a:xfrm>
          <a:prstGeom prst="rect">
            <a:avLst/>
          </a:prstGeom>
          <a:noFill/>
          <a:ln w="255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4"/>
          <p:cNvSpPr/>
          <p:nvPr/>
        </p:nvSpPr>
        <p:spPr>
          <a:xfrm>
            <a:off x="3828240" y="685800"/>
            <a:ext cx="6458400" cy="3566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"B – parameterless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    "ctor\n"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85000"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The paramaterless ctor (aka </a:t>
            </a:r>
            <a:r>
              <a:rPr lang="en-US" sz="4000" b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default ctor</a:t>
            </a: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2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3B74757-0F03-41B7-A6F8-8B892D56CB7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304920" y="2209680"/>
            <a:ext cx="8915040" cy="487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A(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ctor with one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   parameter\n"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}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Line 5"/>
          <p:cNvSpPr/>
          <p:nvPr/>
        </p:nvSpPr>
        <p:spPr>
          <a:xfrm>
            <a:off x="3733560" y="838080"/>
            <a:ext cx="360" cy="50292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מלבן 1"/>
          <p:cNvSpPr/>
          <p:nvPr/>
        </p:nvSpPr>
        <p:spPr>
          <a:xfrm>
            <a:off x="609480" y="3352680"/>
            <a:ext cx="1676160" cy="456840"/>
          </a:xfrm>
          <a:prstGeom prst="rect">
            <a:avLst/>
          </a:prstGeom>
          <a:noFill/>
          <a:ln w="255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304920" y="762120"/>
            <a:ext cx="2666520" cy="12189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b;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Box 4"/>
          <p:cNvSpPr/>
          <p:nvPr/>
        </p:nvSpPr>
        <p:spPr>
          <a:xfrm>
            <a:off x="3828240" y="685800"/>
            <a:ext cx="5772960" cy="3932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B()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: _a1(5), _a2(10)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"B – parameterless 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     "ctor\n"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The initialization list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832EA28-BB74-404F-8FD9-F992A3D8B79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6320" y="2362320"/>
            <a:ext cx="4343040" cy="434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{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std::cout &lt;&lt;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("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 a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") 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&lt;&lt; std::endl;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Box 4"/>
          <p:cNvSpPr/>
          <p:nvPr/>
        </p:nvSpPr>
        <p:spPr>
          <a:xfrm>
            <a:off x="4572000" y="1066680"/>
            <a:ext cx="4571640" cy="5101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_a1,_a2;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B(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i)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:_a1 (i), _a2(2*i)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  std::cout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"B cons"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  &lt;&lt; std::endl;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Line 5"/>
          <p:cNvSpPr/>
          <p:nvPr/>
        </p:nvSpPr>
        <p:spPr>
          <a:xfrm flipH="1">
            <a:off x="4343040" y="1143000"/>
            <a:ext cx="35280" cy="48765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6"/>
          <p:cNvSpPr/>
          <p:nvPr/>
        </p:nvSpPr>
        <p:spPr>
          <a:xfrm>
            <a:off x="152280" y="859680"/>
            <a:ext cx="2514240" cy="14475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b(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7"/>
          <p:cNvSpPr/>
          <p:nvPr/>
        </p:nvSpPr>
        <p:spPr>
          <a:xfrm>
            <a:off x="5943600" y="5448240"/>
            <a:ext cx="2285640" cy="11426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C9900"/>
                </a:solidFill>
                <a:effectLst/>
                <a:uFillTx/>
                <a:latin typeface="Courier New"/>
              </a:rPr>
              <a:t>//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(2)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(4)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 cons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מלבן 9"/>
          <p:cNvSpPr/>
          <p:nvPr/>
        </p:nvSpPr>
        <p:spPr>
          <a:xfrm>
            <a:off x="4952880" y="2895480"/>
            <a:ext cx="3047760" cy="507600"/>
          </a:xfrm>
          <a:prstGeom prst="rect">
            <a:avLst/>
          </a:prstGeom>
          <a:noFill/>
          <a:ln w="2556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Initialization using pointers - Java-like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2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C22D1EF-B1E2-4D35-88A7-87A8041EEED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 Box 4"/>
          <p:cNvSpPr/>
          <p:nvPr/>
        </p:nvSpPr>
        <p:spPr>
          <a:xfrm>
            <a:off x="4381560" y="914400"/>
            <a:ext cx="4562280" cy="8173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  A *_ap;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  B(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i);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~B();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B::B(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_ap =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(i);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cout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"B cons\n"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B::~B() {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delete _ap;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Line 5"/>
          <p:cNvSpPr/>
          <p:nvPr/>
        </p:nvSpPr>
        <p:spPr>
          <a:xfrm flipH="1">
            <a:off x="4343040" y="1143000"/>
            <a:ext cx="35280" cy="548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6"/>
          <p:cNvSpPr/>
          <p:nvPr/>
        </p:nvSpPr>
        <p:spPr>
          <a:xfrm>
            <a:off x="380880" y="838080"/>
            <a:ext cx="2742840" cy="14475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b(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4876920" y="5840280"/>
            <a:ext cx="4190760" cy="8348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C9900"/>
                </a:solidFill>
                <a:effectLst/>
                <a:uFillTx/>
                <a:latin typeface="Courier New"/>
              </a:rPr>
              <a:t>//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(2)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 cons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76320" y="2362320"/>
            <a:ext cx="4343040" cy="434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{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("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 a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") 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&lt;&lt; std::endl;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Initialization using pointers (2)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2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FB1B593-D58C-4BD6-84E0-2B8212FD0C7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 Box 4"/>
          <p:cNvSpPr/>
          <p:nvPr/>
        </p:nvSpPr>
        <p:spPr>
          <a:xfrm>
            <a:off x="4381560" y="914400"/>
            <a:ext cx="4562280" cy="8173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*_ap;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i);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~B();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B::B(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i)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: _ap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A(i))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cout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"B cons\n"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B::~B() {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delete _ap;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Line 5"/>
          <p:cNvSpPr/>
          <p:nvPr/>
        </p:nvSpPr>
        <p:spPr>
          <a:xfrm flipH="1">
            <a:off x="4343040" y="1143000"/>
            <a:ext cx="35280" cy="54864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6"/>
          <p:cNvSpPr/>
          <p:nvPr/>
        </p:nvSpPr>
        <p:spPr>
          <a:xfrm>
            <a:off x="380880" y="838080"/>
            <a:ext cx="2742840" cy="144756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b(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4876920" y="5943600"/>
            <a:ext cx="4190760" cy="83484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 rtl="1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C9900"/>
                </a:solidFill>
                <a:effectLst/>
                <a:uFillTx/>
                <a:latin typeface="Courier New"/>
              </a:rPr>
              <a:t>//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 rtl="1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 (2)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 rtl="1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 cons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76320" y="2362320"/>
            <a:ext cx="4343040" cy="434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{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std::cout &lt;&lt;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("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 a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") 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&lt;&lt; std::endl;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מלבן 9"/>
          <p:cNvSpPr/>
          <p:nvPr/>
        </p:nvSpPr>
        <p:spPr>
          <a:xfrm>
            <a:off x="4952880" y="4114800"/>
            <a:ext cx="3047760" cy="507600"/>
          </a:xfrm>
          <a:prstGeom prst="rect">
            <a:avLst/>
          </a:prstGeom>
          <a:noFill/>
          <a:ln w="2556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85000"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  <a:ea typeface="Noto Sans CJK SC Regular"/>
              </a:rPr>
              <a:t>Advantages of using initialization list 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0)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2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E39D0C7-2D81-4C22-81DF-22D1E37E761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304920" y="1143000"/>
            <a:ext cx="8534160" cy="278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Faster – no need for default initializaiton.</a:t>
            </a:r>
          </a:p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Safer – be sure that all components are ready.</a:t>
            </a:r>
          </a:p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initialize constants and reference variables.</a:t>
            </a:r>
          </a:p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initialize parent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38885</TotalTime>
  <Words>1218</Words>
  <Application>Microsoft Office PowerPoint</Application>
  <PresentationFormat>On-screen Show (4:3)</PresentationFormat>
  <Paragraphs>171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Consolas</vt:lpstr>
      <vt:lpstr>Courier New</vt:lpstr>
      <vt:lpstr>OpenSymbol</vt:lpstr>
      <vt:lpstr>Symbol</vt:lpstr>
      <vt:lpstr>Times New Roman</vt:lpstr>
      <vt:lpstr>Wingdings</vt:lpstr>
      <vt:lpstr>Office</vt:lpstr>
      <vt:lpstr>Composition and initialization</vt:lpstr>
      <vt:lpstr>Composition </vt:lpstr>
      <vt:lpstr>PowerPoint Presentation</vt:lpstr>
      <vt:lpstr>Construction </vt:lpstr>
      <vt:lpstr>Construction order</vt:lpstr>
      <vt:lpstr>Destruction </vt:lpstr>
      <vt:lpstr>Destruction order</vt:lpstr>
      <vt:lpstr>The paramaterless ctor (aka default ctor)</vt:lpstr>
      <vt:lpstr>The paramaterless ctor (aka default ctor)</vt:lpstr>
      <vt:lpstr>The initialization list</vt:lpstr>
      <vt:lpstr>Initialization using pointers - Java-like</vt:lpstr>
      <vt:lpstr>Initialization using pointers (2)</vt:lpstr>
      <vt:lpstr>Advantages of using initialization list  (folder 0)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subject/>
  <dc:creator>zomet</dc:creator>
  <dc:description/>
  <cp:lastModifiedBy>Erel Segal-Halevi</cp:lastModifiedBy>
  <cp:revision>1124</cp:revision>
  <cp:lastPrinted>1999-11-04T13:06:28Z</cp:lastPrinted>
  <dcterms:created xsi:type="dcterms:W3CDTF">1999-10-10T10:49:40Z</dcterms:created>
  <dcterms:modified xsi:type="dcterms:W3CDTF">2026-03-28T21:01:58Z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7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On-screen Show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45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