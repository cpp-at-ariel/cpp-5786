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7099300" cy="10234613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1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מלבן 8" hidden="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מלבן מעוגל 7" hidden="1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מלבן 1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מלבן מעוגל 12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dt" idx="1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0FAF1AFA-ACAE-486C-AD02-64A44E2371AB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2026-03-29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2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3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C540EC3F-364C-4D08-94C4-7B0DB2B17C1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rgbClr val="D34817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מלבן 9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5B1AB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מלבן 10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rgbClr val="918485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שקופית כותרת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8" hidden="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מלבן מעוגל 7" hidden="1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מלבן 1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מלבן מעוגל 12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dt" idx="4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FEF666B3-314B-42AC-8707-F9790579704C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2026-03-29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 idx="5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6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0DE53819-403D-4299-90F7-46D711BC3B7D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rgbClr val="D34817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מלבן 9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5B1AB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מלבן 10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rgbClr val="918485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מלבן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מלבן מעוגל 7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7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F9C0B010-C706-42E1-ABC7-EF3C13821DDD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Levelלחץ כדי לערוך סגנונות טקסט של תבנית בסיס</a:t>
            </a:r>
          </a:p>
          <a:p>
            <a:pPr marL="3456000" lvl="7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שנייה</a:t>
            </a:r>
          </a:p>
          <a:p>
            <a:pPr marL="3888000" lvl="8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שלישית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רביעית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חמישית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_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מלבן 8" hidden="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מלבן מעוגל 7" hidden="1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מלבן 1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מלבן מעוגל 12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dt" idx="8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1BD40297-DC4A-4DB7-975F-B5EE46588F72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2026-03-29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ftr" idx="9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10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7A115F00-0E36-4C89-B67B-13EA5F35530C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מלבן 6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rgbClr val="D34817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מלבן 9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5B1AB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מלבן 10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rgbClr val="918485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שקופית כותרת_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מלבן 8" hidden="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מלבן מעוגל 7" hidden="1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מלבן 1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מלבן מעוגל 12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dt" idx="11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644A874D-64B3-443C-8405-619F5AFD15E4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2026-03-29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12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3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680547EF-49A9-4B5C-8A50-BD436193F605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מלבן 6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rgbClr val="D34817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מלבן 9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5B1AB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מלבן 10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rgbClr val="918485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">
    <p:bg>
      <p:bgPr>
        <a:solidFill>
          <a:srgbClr val="CEC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_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מלבן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מלבן מעוגל 7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14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D17572EC-2174-4C8E-86E1-B22CD0B57371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Levelלחץ כדי לערוך סגנונות טקסט של תבנית בסיס</a:t>
            </a:r>
          </a:p>
          <a:p>
            <a:pPr marL="3456000" lvl="7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שנייה</a:t>
            </a:r>
          </a:p>
          <a:p>
            <a:pPr marL="3888000" lvl="8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שלישית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רביעית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חמישית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C++: const methods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כותרת משנה 3"/>
          <p:cNvSpPr txBox="1"/>
          <p:nvPr/>
        </p:nvSpPr>
        <p:spPr>
          <a:xfrm>
            <a:off x="1647000" y="4146480"/>
            <a:ext cx="6400440" cy="1599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2600" b="0" u="none" strike="noStrike"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effectLst/>
                <a:uFillTx/>
                <a:latin typeface="Arial"/>
              </a:rPr>
              <a:t>Version 1: Dr. Ofir Pele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effectLst/>
                <a:uFillTx/>
                <a:latin typeface="Arial"/>
              </a:rPr>
              <a:t>Version 2: Dr. Miri Ben-Nissan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effectLst/>
                <a:uFillTx/>
                <a:latin typeface="Arial"/>
              </a:rPr>
              <a:t>Version 3: Dr. Erel Segal-Halevi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85000" lnSpcReduction="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  <a:ea typeface="Noto Sans CJK SC Regular"/>
              </a:rPr>
              <a:t>Reminder: const variables (</a:t>
            </a: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in C and C++)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15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5EFDFD4E-4990-40D5-8C9F-36C8FD404485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228600" y="990720"/>
            <a:ext cx="8686440" cy="56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i="1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const pointer to un-const variable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*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const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p1 = &amp;i;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5320" indent="-36468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p1++; </a:t>
            </a:r>
            <a:r>
              <a:rPr lang="en-US" sz="3200" b="0" u="none" strike="noStrike">
                <a:solidFill>
                  <a:srgbClr val="008000"/>
                </a:solidFill>
                <a:effectLst/>
                <a:uFillTx/>
                <a:latin typeface="Consolas"/>
                <a:ea typeface="Noto Sans CJK SC Regular"/>
              </a:rPr>
              <a:t>// </a:t>
            </a:r>
            <a:r>
              <a:rPr lang="en-US" sz="32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compile error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5320" indent="-36468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(*p1)++; </a:t>
            </a:r>
            <a:r>
              <a:rPr lang="en-US" sz="32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ok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i="1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un-const pointer to const variable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const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* p2 = &amp;b;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5320" indent="-27252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p2++; </a:t>
            </a:r>
            <a:r>
              <a:rPr lang="en-US" sz="32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ok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95320" indent="-272520">
              <a:lnSpc>
                <a:spcPct val="100000"/>
              </a:lnSpc>
              <a:spcBef>
                <a:spcPts val="581"/>
              </a:spcBef>
              <a:buClr>
                <a:srgbClr val="D34817"/>
              </a:buClr>
              <a:buSzPct val="85000"/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(*p2)++; </a:t>
            </a:r>
            <a:r>
              <a:rPr lang="en-US" sz="32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compile error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i="1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const pointer to a const variable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const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*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const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p3 = &amp;b;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Const methods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ldNum" idx="16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04A04292-4306-40AA-9FB6-25A790D124B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228600" y="990720"/>
            <a:ext cx="8686440" cy="56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19999"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class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 A 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{ int a;</a:t>
            </a:r>
            <a:br>
              <a:rPr sz="2600"/>
            </a:b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public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: 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   </a:t>
            </a: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void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 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print() </a:t>
            </a: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const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void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set(); 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br>
              <a:rPr sz="2600"/>
            </a:b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void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A::print() </a:t>
            </a: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const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{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1900" b="0" u="none" strike="noStrike">
                <a:solidFill>
                  <a:srgbClr val="009900"/>
                </a:solidFill>
                <a:effectLst/>
                <a:uFillTx/>
                <a:latin typeface="Consolas"/>
                <a:ea typeface="Noto Sans CJK SC Regular"/>
              </a:rPr>
              <a:t> // </a:t>
            </a: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print</a:t>
            </a:r>
            <a:r>
              <a:rPr lang="en-US" sz="1900" b="0" u="none" strike="noStrike">
                <a:solidFill>
                  <a:srgbClr val="009900"/>
                </a:solidFill>
                <a:effectLst/>
                <a:uFillTx/>
                <a:latin typeface="Consolas"/>
              </a:rPr>
              <a:t>(const A* const this)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600" b="0" u="none" strike="noStrike">
                <a:solidFill>
                  <a:srgbClr val="CE181E"/>
                </a:solidFill>
                <a:effectLst/>
                <a:uFillTx/>
                <a:latin typeface="Consolas"/>
              </a:rPr>
              <a:t>a=5; </a:t>
            </a:r>
            <a:r>
              <a:rPr lang="en-US" sz="1900" b="0" u="none" strike="noStrike">
                <a:solidFill>
                  <a:srgbClr val="009900"/>
                </a:solidFill>
                <a:effectLst/>
                <a:uFillTx/>
                <a:latin typeface="Consolas"/>
              </a:rPr>
              <a:t>// = this→a = 5 = error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cout &lt;&lt; a; </a:t>
            </a:r>
            <a:r>
              <a:rPr lang="en-US" sz="1900" b="0" u="none" strike="noStrike">
                <a:solidFill>
                  <a:srgbClr val="009900"/>
                </a:solidFill>
                <a:effectLst/>
                <a:uFillTx/>
                <a:latin typeface="Consolas"/>
              </a:rPr>
              <a:t>// OK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br>
              <a:rPr sz="2600"/>
            </a:br>
            <a:r>
              <a:rPr lang="en-US" sz="26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void</a:t>
            </a: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A::set() {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1900" b="0" u="none" strike="noStrike">
                <a:solidFill>
                  <a:srgbClr val="009900"/>
                </a:solidFill>
                <a:effectLst/>
                <a:uFillTx/>
                <a:latin typeface="Consolas"/>
              </a:rPr>
              <a:t> // set(A* const this)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Consolas"/>
              </a:rPr>
              <a:t> this-&gt;a=5;  </a:t>
            </a:r>
            <a:r>
              <a:rPr lang="en-US" sz="1600" b="0" u="none" strike="noStrike">
                <a:solidFill>
                  <a:srgbClr val="009900"/>
                </a:solidFill>
                <a:effectLst/>
                <a:uFillTx/>
                <a:latin typeface="Consolas"/>
              </a:rPr>
              <a:t>// OK</a:t>
            </a:r>
            <a:br>
              <a:rPr sz="2600"/>
            </a:b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Line 4"/>
          <p:cNvSpPr/>
          <p:nvPr/>
        </p:nvSpPr>
        <p:spPr>
          <a:xfrm>
            <a:off x="4249440" y="1295280"/>
            <a:ext cx="32040" cy="512928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ctr" anchorCtr="1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Box 5"/>
          <p:cNvSpPr/>
          <p:nvPr/>
        </p:nvSpPr>
        <p:spPr>
          <a:xfrm>
            <a:off x="4267080" y="1295280"/>
            <a:ext cx="4876920" cy="422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 main() 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 A a;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 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const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 A ca;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 a.print();</a:t>
            </a:r>
            <a:r>
              <a:rPr lang="en-US" sz="2400" b="0" u="none" strike="noStrike">
                <a:solidFill>
                  <a:srgbClr val="009900"/>
                </a:solidFill>
                <a:effectLst/>
                <a:uFillTx/>
                <a:latin typeface="Consolas"/>
                <a:ea typeface="Noto Sans CJK SC Regular"/>
              </a:rPr>
              <a:t> //=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print</a:t>
            </a:r>
            <a:r>
              <a:rPr lang="en-US" sz="2400" b="0" u="none" strike="noStrike">
                <a:solidFill>
                  <a:srgbClr val="009900"/>
                </a:solidFill>
                <a:effectLst/>
                <a:uFillTx/>
                <a:latin typeface="Consolas"/>
                <a:ea typeface="Noto Sans CJK SC Regular"/>
              </a:rPr>
              <a:t>(&amp;a)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 a.set();</a:t>
            </a:r>
            <a:r>
              <a:rPr lang="en-US" sz="2400" b="0" u="none" strike="noStrike">
                <a:solidFill>
                  <a:srgbClr val="009900"/>
                </a:solidFill>
                <a:effectLst/>
                <a:uFillTx/>
                <a:latin typeface="Consolas"/>
                <a:ea typeface="Noto Sans CJK SC Regular"/>
              </a:rPr>
              <a:t> //=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set</a:t>
            </a:r>
            <a:r>
              <a:rPr lang="en-US" sz="2400" b="0" u="none" strike="noStrike">
                <a:solidFill>
                  <a:srgbClr val="009900"/>
                </a:solidFill>
                <a:effectLst/>
                <a:uFillTx/>
                <a:latin typeface="Consolas"/>
                <a:ea typeface="Noto Sans CJK SC Regular"/>
              </a:rPr>
              <a:t>(&amp;a)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 ca.print();</a:t>
            </a:r>
            <a:r>
              <a:rPr lang="en-US" sz="2400" b="0" u="none" strike="noStrike">
                <a:solidFill>
                  <a:srgbClr val="009900"/>
                </a:solidFill>
                <a:effectLst/>
                <a:uFillTx/>
                <a:latin typeface="Consolas"/>
                <a:ea typeface="Noto Sans CJK SC Regular"/>
              </a:rPr>
              <a:t>//=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print</a:t>
            </a:r>
            <a:r>
              <a:rPr lang="en-US" sz="2400" b="0" u="none" strike="noStrike">
                <a:solidFill>
                  <a:srgbClr val="009900"/>
                </a:solidFill>
                <a:effectLst/>
                <a:uFillTx/>
                <a:latin typeface="Consolas"/>
                <a:ea typeface="Noto Sans CJK SC Regular"/>
              </a:rPr>
              <a:t>(&amp;ca)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 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Consolas"/>
                <a:ea typeface="Noto Sans CJK SC Regular"/>
              </a:rPr>
              <a:t>ca.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set</a:t>
            </a:r>
            <a:r>
              <a:rPr lang="en-US" sz="2400" b="0" u="none" strike="noStrike">
                <a:solidFill>
                  <a:srgbClr val="FF0000"/>
                </a:solidFill>
                <a:effectLst/>
                <a:uFillTx/>
                <a:latin typeface="Consolas"/>
                <a:ea typeface="Noto Sans CJK SC Regular"/>
              </a:rPr>
              <a:t>();</a:t>
            </a:r>
            <a:r>
              <a:rPr lang="en-US" sz="2400" b="0" u="none" strike="noStrike">
                <a:solidFill>
                  <a:srgbClr val="009900"/>
                </a:solidFill>
                <a:effectLst/>
                <a:uFillTx/>
                <a:latin typeface="Consolas"/>
                <a:ea typeface="Noto Sans CJK SC Regular"/>
              </a:rPr>
              <a:t>//=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set</a:t>
            </a:r>
            <a:r>
              <a:rPr lang="en-US" sz="2400" b="0" u="none" strike="noStrike">
                <a:solidFill>
                  <a:srgbClr val="009900"/>
                </a:solidFill>
                <a:effectLst/>
                <a:uFillTx/>
                <a:latin typeface="Consolas"/>
              </a:rPr>
              <a:t>(&amp;ca) – compilation error!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77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Const &amp; non-const methods with same name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ldNum" idx="17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FD16623C-C48D-4BDA-9B18-8C245F91E8C1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228600" y="990720"/>
            <a:ext cx="8686440" cy="56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class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 A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{ BigInt xx;</a:t>
            </a:r>
            <a:br>
              <a:rPr sz="2000"/>
            </a:b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public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: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 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const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BigInt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&amp;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 foo() 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const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;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 BigInt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&amp;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 foo();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};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br>
              <a:rPr sz="2000"/>
            </a:b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const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BigInt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&amp;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A::foo() 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const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{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cout &lt;&lt; </a:t>
            </a:r>
            <a:r>
              <a:rPr lang="en-US" sz="20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"const foo\n";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Noto Sans CJK SC Regular"/>
              </a:rPr>
              <a:t>   </a:t>
            </a:r>
            <a:r>
              <a:rPr lang="en-US" sz="2000" b="0" u="none" strike="noStrike">
                <a:solidFill>
                  <a:srgbClr val="3333FF"/>
                </a:solidFill>
                <a:effectLst/>
                <a:uFillTx/>
                <a:latin typeface="Consolas"/>
                <a:ea typeface="Noto Sans CJK SC Regular"/>
              </a:rPr>
              <a:t>return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Noto Sans CJK SC Regular"/>
              </a:rPr>
              <a:t> xx;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}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BigInt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&amp;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A::foo()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cout &lt;&lt; </a:t>
            </a:r>
            <a:r>
              <a:rPr lang="en-US" sz="2000" b="0" u="none" strike="noStrike">
                <a:solidFill>
                  <a:srgbClr val="800000"/>
                </a:solidFill>
                <a:effectLst/>
                <a:uFillTx/>
                <a:latin typeface="Consolas"/>
              </a:rPr>
              <a:t>"foo\n"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</a:t>
            </a:r>
            <a:r>
              <a:rPr lang="en-US" sz="2000" b="0" u="none" strike="noStrike">
                <a:solidFill>
                  <a:srgbClr val="3333FF"/>
                </a:solidFill>
                <a:effectLst/>
                <a:uFillTx/>
                <a:latin typeface="Consolas"/>
              </a:rPr>
              <a:t>return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xx;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Line 4"/>
          <p:cNvSpPr/>
          <p:nvPr/>
        </p:nvSpPr>
        <p:spPr>
          <a:xfrm>
            <a:off x="4616280" y="1295280"/>
            <a:ext cx="31680" cy="512928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ctr" anchorCtr="1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Box 5"/>
          <p:cNvSpPr/>
          <p:nvPr/>
        </p:nvSpPr>
        <p:spPr>
          <a:xfrm>
            <a:off x="4724280" y="1295280"/>
            <a:ext cx="4219200" cy="5979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2880" tIns="137160" rIns="182880" bIns="13716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A a;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const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 ca;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   A a2 = ca; //OK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   a.foo () = 5;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  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BigInt i=ca.foo();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br>
              <a:rPr sz="2400"/>
            </a:br>
            <a:br>
              <a:rPr sz="2400"/>
            </a:br>
            <a:br>
              <a:rPr sz="2400"/>
            </a:b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br>
              <a:rPr sz="2400"/>
            </a:b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Rectangle 7"/>
          <p:cNvSpPr/>
          <p:nvPr/>
        </p:nvSpPr>
        <p:spPr>
          <a:xfrm>
            <a:off x="5029200" y="4965840"/>
            <a:ext cx="3543120" cy="1660320"/>
          </a:xfrm>
          <a:prstGeom prst="rect">
            <a:avLst/>
          </a:prstGeom>
          <a:blipFill rotWithShape="0">
            <a:blip r:embed="rId2"/>
            <a:srcRect/>
            <a:tile tx="0" ty="0" sx="69982" sy="68571" algn="ctr"/>
          </a:blipFill>
          <a:ln w="936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360" tIns="44280" rIns="90360" bIns="44280" anchor="t">
            <a:noAutofit/>
          </a:bodyPr>
          <a:lstStyle/>
          <a:p>
            <a:pPr marL="285840" indent="-285480">
              <a:lnSpc>
                <a:spcPct val="9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C9900"/>
                </a:solidFill>
                <a:effectLst/>
                <a:uFillTx/>
                <a:latin typeface="Courier New"/>
              </a:rPr>
              <a:t>// output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480" rtl="1">
              <a:lnSpc>
                <a:spcPct val="9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foo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480" rtl="1">
              <a:lnSpc>
                <a:spcPct val="9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const foo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How can we have two "foo" functions?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8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E3A8300C-B464-4F33-ADB4-9F819B1EC977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– Overload resolution:</a:t>
            </a: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A::foo(A*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const this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 </a:t>
            </a:r>
            <a:br>
              <a:rPr sz="3200"/>
            </a:b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A::foo(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  <a:ea typeface="Noto Sans CJK SC Regular"/>
              </a:rPr>
              <a:t>const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Noto Sans CJK SC Regular"/>
              </a:rPr>
              <a:t> A*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const this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696464"/>
                </a:solidFill>
                <a:effectLst/>
                <a:uFillTx/>
                <a:latin typeface="Arial"/>
                <a:ea typeface="Noto Sans CJK SC Regular"/>
              </a:rPr>
              <a:t>Why do we need two "foo" functions?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See folder 7.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C++: friend functions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כותרת משנה 3"/>
          <p:cNvSpPr txBox="1"/>
          <p:nvPr/>
        </p:nvSpPr>
        <p:spPr>
          <a:xfrm>
            <a:off x="1647000" y="4146480"/>
            <a:ext cx="6400440" cy="1599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Version 1: Dr. Ofir Pele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Version 2: Dr. Erel Segal-Halevi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lnSpcReduction="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rgbClr val="000099"/>
                </a:solidFill>
                <a:effectLst/>
                <a:uFillTx/>
                <a:latin typeface="Arial"/>
              </a:rPr>
              <a:t>friend functions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ldNum" idx="19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0BA5EA71-E6A3-4C44-B2F1-AF8150A34E60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7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Friend function in a class: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Not a method of the class.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Has access to the class’s private and protected data members.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914040" algn="l"/>
                <a:tab pos="1828440" algn="l"/>
                <a:tab pos="2742840" algn="l"/>
                <a:tab pos="3657240" algn="l"/>
                <a:tab pos="4571640" algn="l"/>
                <a:tab pos="5486040" algn="l"/>
                <a:tab pos="6400440" algn="l"/>
                <a:tab pos="7314840" algn="l"/>
                <a:tab pos="8229240" algn="l"/>
                <a:tab pos="9143640" algn="l"/>
                <a:tab pos="1005804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Defined inside the class scope.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S Gothic"/>
              </a:rPr>
              <a:t>See folder 8 for an example.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40132</TotalTime>
  <Words>503</Words>
  <Application>Microsoft Office PowerPoint</Application>
  <PresentationFormat>On-screen Show (4:3)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Consolas</vt:lpstr>
      <vt:lpstr>Courier New</vt:lpstr>
      <vt:lpstr>Symbol</vt:lpstr>
      <vt:lpstr>Times New Roman</vt:lpstr>
      <vt:lpstr>Wingdings</vt:lpstr>
      <vt:lpstr>Office</vt:lpstr>
      <vt:lpstr>C++: const methods</vt:lpstr>
      <vt:lpstr>Reminder: const variables (in C and C++)</vt:lpstr>
      <vt:lpstr>Const methods</vt:lpstr>
      <vt:lpstr>Const &amp; non-const methods with same name</vt:lpstr>
      <vt:lpstr>How can we have two "foo" functions?</vt:lpstr>
      <vt:lpstr>C++: friend functions</vt:lpstr>
      <vt:lpstr>friend functions</vt:lpstr>
    </vt:vector>
  </TitlesOfParts>
  <Company>Institute of 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</dc:title>
  <dc:subject/>
  <dc:creator>zomet</dc:creator>
  <dc:description/>
  <cp:lastModifiedBy>Erel Segal-Halevi</cp:lastModifiedBy>
  <cp:revision>1238</cp:revision>
  <cp:lastPrinted>1999-11-04T13:06:28Z</cp:lastPrinted>
  <dcterms:created xsi:type="dcterms:W3CDTF">1999-10-10T10:49:40Z</dcterms:created>
  <dcterms:modified xsi:type="dcterms:W3CDTF">2026-03-28T21:54:10Z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Color">
    <vt:r8>15132390</vt:r8>
  </property>
  <property fmtid="{D5CDD505-2E9C-101B-9397-08002B2CF9AE}" pid="3" name="ButtonType">
    <vt:r8>1</vt:r8>
  </property>
  <property fmtid="{D5CDD505-2E9C-101B-9397-08002B2CF9AE}" pid="4" name="Compression">
    <vt:r8>100</vt:r8>
  </property>
  <property fmtid="{D5CDD505-2E9C-101B-9397-08002B2CF9AE}" pid="5" name="DownloadIEButton">
    <vt:bool>false</vt:bool>
  </property>
  <property fmtid="{D5CDD505-2E9C-101B-9397-08002B2CF9AE}" pid="6" name="DownloadOriginal">
    <vt:bool>true</vt:bool>
  </property>
  <property fmtid="{D5CDD505-2E9C-101B-9397-08002B2CF9AE}" pid="7" name="GraphicType">
    <vt:r8>1</vt:r8>
  </property>
  <property fmtid="{D5CDD505-2E9C-101B-9397-08002B2CF9AE}" pid="8" name="HiddenSlides">
    <vt:r8>0</vt:r8>
  </property>
  <property fmtid="{D5CDD505-2E9C-101B-9397-08002B2CF9AE}" pid="9" name="HomePage">
    <vt:lpwstr>http://www.cs.huji.ac.il/~plab</vt:lpwstr>
  </property>
  <property fmtid="{D5CDD505-2E9C-101B-9397-08002B2CF9AE}" pid="10" name="HyperlinksChanged">
    <vt:bool>false</vt:bool>
  </property>
  <property fmtid="{D5CDD505-2E9C-101B-9397-08002B2CF9AE}" pid="11" name="LinkColor">
    <vt:r8>16711782</vt:r8>
  </property>
  <property fmtid="{D5CDD505-2E9C-101B-9397-08002B2CF9AE}" pid="12" name="LinksUpToDate">
    <vt:bool>false</vt:bool>
  </property>
  <property fmtid="{D5CDD505-2E9C-101B-9397-08002B2CF9AE}" pid="13" name="MMClips">
    <vt:r8>0</vt:r8>
  </property>
  <property fmtid="{D5CDD505-2E9C-101B-9397-08002B2CF9AE}" pid="14" name="MailAddress">
    <vt:lpwstr>plab@cs.huji.ac.il</vt:lpwstr>
  </property>
  <property fmtid="{D5CDD505-2E9C-101B-9397-08002B2CF9AE}" pid="15" name="NavBtnPos">
    <vt:r8>1</vt:r8>
  </property>
  <property fmtid="{D5CDD505-2E9C-101B-9397-08002B2CF9AE}" pid="16" name="Notes">
    <vt:r8>7</vt:r8>
  </property>
  <property fmtid="{D5CDD505-2E9C-101B-9397-08002B2CF9AE}" pid="17" name="Other">
    <vt:lpwstr/>
  </property>
  <property fmtid="{D5CDD505-2E9C-101B-9397-08002B2CF9AE}" pid="18" name="OutputDir">
    <vt:lpwstr>c:\temp</vt:lpwstr>
  </property>
  <property fmtid="{D5CDD505-2E9C-101B-9397-08002B2CF9AE}" pid="19" name="PresentationFormat">
    <vt:lpwstr>On-screen Show (4:3)</vt:lpwstr>
  </property>
  <property fmtid="{D5CDD505-2E9C-101B-9397-08002B2CF9AE}" pid="20" name="ScaleCrop">
    <vt:bool>false</vt:bool>
  </property>
  <property fmtid="{D5CDD505-2E9C-101B-9397-08002B2CF9AE}" pid="21" name="ScreenSize">
    <vt:r8>2</vt:r8>
  </property>
  <property fmtid="{D5CDD505-2E9C-101B-9397-08002B2CF9AE}" pid="22" name="ScreenUsage">
    <vt:r8>1</vt:r8>
  </property>
  <property fmtid="{D5CDD505-2E9C-101B-9397-08002B2CF9AE}" pid="23" name="ShareDoc">
    <vt:bool>false</vt:bool>
  </property>
  <property fmtid="{D5CDD505-2E9C-101B-9397-08002B2CF9AE}" pid="24" name="ShowNotes">
    <vt:bool>false</vt:bool>
  </property>
  <property fmtid="{D5CDD505-2E9C-101B-9397-08002B2CF9AE}" pid="25" name="Slides">
    <vt:r8>45</vt:r8>
  </property>
  <property fmtid="{D5CDD505-2E9C-101B-9397-08002B2CF9AE}" pid="26" name="TemplateType">
    <vt:r8>1</vt:r8>
  </property>
  <property fmtid="{D5CDD505-2E9C-101B-9397-08002B2CF9AE}" pid="27" name="TextColor">
    <vt:r8>0</vt:r8>
  </property>
  <property fmtid="{D5CDD505-2E9C-101B-9397-08002B2CF9AE}" pid="28" name="TransparentButton">
    <vt:r8>0</vt:r8>
  </property>
  <property fmtid="{D5CDD505-2E9C-101B-9397-08002B2CF9AE}" pid="29" name="UseBrowserColor">
    <vt:bool>true</vt:bool>
  </property>
  <property fmtid="{D5CDD505-2E9C-101B-9397-08002B2CF9AE}" pid="30" name="VisitedColor">
    <vt:r8>10040268</vt:r8>
  </property>
</Properties>
</file>