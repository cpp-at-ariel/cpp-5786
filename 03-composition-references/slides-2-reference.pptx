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6858000" type="screen4x3"/>
  <p:notesSz cx="7099300" cy="102346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 rtl="1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dt" idx="8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ftr" idx="9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7" name="PlaceHolder 6"/>
          <p:cNvSpPr>
            <a:spLocks noGrp="1"/>
          </p:cNvSpPr>
          <p:nvPr>
            <p:ph type="sldNum" idx="10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167CCF8-D18B-4E81-830C-3E12F7BBE01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26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4806AD53-1E1D-4528-B7FE-397FC2F66B47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5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27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573F5C5B-6A6D-42AF-87AA-B6DDC1B24EF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15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0E97AD7-533E-4B34-AAED-241A7E3B5F3F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2026-03-30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A991D9C-ECC9-43D0-8144-4CD99414ED5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dt" idx="4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15E4F440-2F46-40ED-B7A4-35FF784CDEE9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2026-03-30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5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F11EABD-CEE8-4AAE-BE4C-2F8D7AEE8C1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54BCD7A-81AA-488C-8410-4F28B96041C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Reference variables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כותרת משנה 3"/>
          <p:cNvSpPr txBox="1"/>
          <p:nvPr/>
        </p:nvSpPr>
        <p:spPr>
          <a:xfrm>
            <a:off x="1646640" y="4130640"/>
            <a:ext cx="6400440" cy="1599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Why references?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E8D6C3B-916A-4FEC-887A-44D984EF3E4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274320" y="4480560"/>
            <a:ext cx="397764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19999"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 version </a:t>
            </a: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swap (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*a,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*b) 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t = *a;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*a = *b;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*b = t;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r>
              <a:rPr lang="en-US" sz="2000" b="0" u="none" strike="noStrike">
                <a:solidFill>
                  <a:srgbClr val="009900"/>
                </a:solidFill>
                <a:effectLst/>
                <a:uFillTx/>
                <a:latin typeface="Consolas"/>
              </a:rPr>
              <a:t>// swap(&amp;x,&amp;y)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Box 4"/>
          <p:cNvSpPr/>
          <p:nvPr/>
        </p:nvSpPr>
        <p:spPr>
          <a:xfrm>
            <a:off x="4389120" y="4389120"/>
            <a:ext cx="4562280" cy="210420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C++ version </a:t>
            </a: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swap (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&amp;a,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&amp;b) 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t = a;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 = b;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b = t;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 </a:t>
            </a:r>
            <a:r>
              <a:rPr lang="en-US" sz="2000" b="0" u="none" strike="noStrike">
                <a:solidFill>
                  <a:srgbClr val="009900"/>
                </a:solidFill>
                <a:effectLst/>
                <a:uFillTx/>
                <a:latin typeface="Consolas"/>
              </a:rPr>
              <a:t>// swap(x,y)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Line 5"/>
          <p:cNvSpPr/>
          <p:nvPr/>
        </p:nvSpPr>
        <p:spPr>
          <a:xfrm>
            <a:off x="4381200" y="1143000"/>
            <a:ext cx="360" cy="26668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3"/>
          <p:cNvSpPr/>
          <p:nvPr/>
        </p:nvSpPr>
        <p:spPr>
          <a:xfrm>
            <a:off x="4008600" y="428400"/>
            <a:ext cx="4678200" cy="411372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Wrong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swap(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a, 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b) 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temp = a;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 = b;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b = temp;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000"/>
            </a:b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x=</a:t>
            </a:r>
            <a:r>
              <a:rPr lang="en-US" sz="20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y=</a:t>
            </a:r>
            <a:r>
              <a:rPr lang="en-US" sz="20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7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swap(x, y);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0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still x == 3, y == 7 !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References – two definitions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1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62F3D68-14C2-41AD-A541-F95CAD91842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Text Box 3"/>
          <p:cNvSpPr/>
          <p:nvPr/>
        </p:nvSpPr>
        <p:spPr>
          <a:xfrm>
            <a:off x="293760" y="1227240"/>
            <a:ext cx="8850240" cy="534492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t">
            <a:noAutofit/>
          </a:bodyPr>
          <a:lstStyle/>
          <a:p>
            <a:pPr marL="216000" indent="-2160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(a) A pointer that is used like an object.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(b) Alias - alternative name to existing object.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= 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&amp; j = i;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j is an int reference 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         // initialized only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         // once ! 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j += 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changes both i and j </a:t>
            </a:r>
            <a:br>
              <a:rPr sz="3200"/>
            </a:b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Box 4"/>
          <p:cNvSpPr/>
          <p:nvPr/>
        </p:nvSpPr>
        <p:spPr>
          <a:xfrm>
            <a:off x="830160" y="5934240"/>
            <a:ext cx="364680" cy="63792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37160" rIns="182880" bIns="137160" anchor="t">
            <a:sp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Pointer vs. Reference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8D65021-989B-47F4-8287-081A87D29EE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2" name="Table 41"/>
          <p:cNvGraphicFramePr/>
          <p:nvPr/>
        </p:nvGraphicFramePr>
        <p:xfrm>
          <a:off x="395280" y="963720"/>
          <a:ext cx="8519760" cy="5281560"/>
        </p:xfrm>
        <a:graphic>
          <a:graphicData uri="http://schemas.openxmlformats.org/drawingml/2006/table">
            <a:tbl>
              <a:tblPr/>
              <a:tblGrid>
                <a:gridCol w="283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3840">
                <a:tc>
                  <a:txBody>
                    <a:bodyPr/>
                    <a:lstStyle/>
                    <a:p>
                      <a:pPr algn="ctr"/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Pointer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Reference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3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Initialization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Optional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Mandatory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3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Dynamic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CC33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3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Arithmetic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CC33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3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Always defined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CC33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84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Notation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(*p),    p-&gt;x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CC33"/>
                          </a:solidFill>
                          <a:effectLst/>
                          <a:uFillTx/>
                          <a:latin typeface="Arial"/>
                        </a:rPr>
                        <a:t>r,        r.x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852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Containers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CC33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Three ways to pass arguments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3"/>
          <p:cNvSpPr/>
          <p:nvPr/>
        </p:nvSpPr>
        <p:spPr>
          <a:xfrm>
            <a:off x="914400" y="2133720"/>
            <a:ext cx="7543440" cy="52920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 func(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*var0,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&amp;var1,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var2);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Rounded Rectangular Callout 4"/>
          <p:cNvSpPr/>
          <p:nvPr/>
        </p:nvSpPr>
        <p:spPr>
          <a:xfrm>
            <a:off x="548640" y="3317400"/>
            <a:ext cx="2057040" cy="705960"/>
          </a:xfrm>
          <a:prstGeom prst="wedgeRoundRectCallout">
            <a:avLst>
              <a:gd name="adj1" fmla="val 85009"/>
              <a:gd name="adj2" fmla="val -166045"/>
              <a:gd name="adj3" fmla="val 16667"/>
            </a:avLst>
          </a:prstGeom>
          <a:solidFill>
            <a:srgbClr val="D34817"/>
          </a:solidFill>
          <a:ln w="12600">
            <a:solidFill>
              <a:srgbClr val="9C35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By pointer</a:t>
            </a:r>
          </a:p>
        </p:txBody>
      </p:sp>
      <p:sp>
        <p:nvSpPr>
          <p:cNvPr id="47" name="Rounded Rectangular Callout 5"/>
          <p:cNvSpPr/>
          <p:nvPr/>
        </p:nvSpPr>
        <p:spPr>
          <a:xfrm>
            <a:off x="2834640" y="3671280"/>
            <a:ext cx="2514240" cy="900720"/>
          </a:xfrm>
          <a:prstGeom prst="wedgeRoundRectCallout">
            <a:avLst>
              <a:gd name="adj1" fmla="val 44915"/>
              <a:gd name="adj2" fmla="val -161365"/>
              <a:gd name="adj3" fmla="val 16667"/>
            </a:avLst>
          </a:prstGeom>
          <a:solidFill>
            <a:srgbClr val="D34817"/>
          </a:solidFill>
          <a:ln w="12600">
            <a:solidFill>
              <a:srgbClr val="9C35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By reference</a:t>
            </a:r>
          </a:p>
        </p:txBody>
      </p:sp>
      <p:sp>
        <p:nvSpPr>
          <p:cNvPr id="48" name="Rounded Rectangular Callout 6"/>
          <p:cNvSpPr/>
          <p:nvPr/>
        </p:nvSpPr>
        <p:spPr>
          <a:xfrm>
            <a:off x="5659920" y="3566160"/>
            <a:ext cx="1746720" cy="761760"/>
          </a:xfrm>
          <a:prstGeom prst="wedgeRoundRectCallout">
            <a:avLst>
              <a:gd name="adj1" fmla="val -1042"/>
              <a:gd name="adj2" fmla="val -189366"/>
              <a:gd name="adj3" fmla="val 16667"/>
            </a:avLst>
          </a:prstGeom>
          <a:solidFill>
            <a:srgbClr val="D34817"/>
          </a:solidFill>
          <a:ln w="12600">
            <a:solidFill>
              <a:srgbClr val="9C35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By Value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sldNum" idx="1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6855226-2E8C-406D-8CD3-B5D438AD0C0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Lvalue &amp; Rvalue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3B28D4D-A402-4364-BA55-F29FE5DC572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Lvalue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=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Left Value –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appear at left side of =.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=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Located Value –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 a fixed memory location.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  Examples:  variables, references  …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Rvalue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= not Left Value.      Numbers, temporaries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…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a=1;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Lvalue = Rvalue, Ok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a=a;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Lvalue = Lvalue, Ok </a:t>
            </a:r>
            <a:br>
              <a:rPr sz="2600"/>
            </a:b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=a;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Rvalue = Lvalue, Comp. error </a:t>
            </a:r>
            <a:br>
              <a:rPr sz="2600"/>
            </a:b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Rvalue = Rvalue, Comp. error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a+5=7;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Temporary = Rvalue, Comp. error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f(5)=7;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RIDDLE: Is this legal?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Lvalue &amp; Rvalue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3780A2F-C980-4E6F-9AD9-A3C610545427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Lvalue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=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Left Value –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appear at left side of =.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=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Located Value –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 a fixed memory location.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   Examples:  variables, references  …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Rvalue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= not Left Value.      Numbers, temporaries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…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a=1;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Lvalue = Rvalue, Ok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a=a;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Lvalue = Lvalue, Ok </a:t>
            </a:r>
            <a:br>
              <a:rPr sz="2600"/>
            </a:b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=a;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Rvalue = Lvalue, Comp. error </a:t>
            </a:r>
            <a:br>
              <a:rPr sz="2600"/>
            </a:b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Rvalue = Rvalue, Comp. error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a+5=7;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Temporary = Rvalue, Comp. error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f(5)=7; </a:t>
            </a:r>
            <a:r>
              <a:rPr lang="en-US" sz="26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.. it depends: we will see soon.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Initializing references with L/Rvalue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1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3ABD44A-C17F-496A-BEA4-CF1DBACF7A4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380880" y="82296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- initialized only to an Lvalue.</a:t>
            </a:r>
          </a:p>
          <a:p>
            <a:pPr indent="0">
              <a:lnSpc>
                <a:spcPct val="14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lv=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  <a:ea typeface="Noto Sans CJK SC Regular"/>
              </a:rPr>
              <a:t>1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;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lvr1=lv;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lvr2=5; </a:t>
            </a:r>
            <a:r>
              <a:rPr lang="en-US" sz="2600" b="0" u="none" strike="noStrike">
                <a:solidFill>
                  <a:srgbClr val="FF0000"/>
                </a:solidFill>
                <a:effectLst/>
                <a:uFillTx/>
                <a:latin typeface="Consolas"/>
                <a:ea typeface="Noto Sans CJK SC Regular"/>
              </a:rPr>
              <a:t>//error!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lvr3=5+lv; </a:t>
            </a:r>
            <a:r>
              <a:rPr lang="en-US" sz="2600" b="0" u="none" strike="noStrike">
                <a:solidFill>
                  <a:srgbClr val="FF0000"/>
                </a:solidFill>
                <a:effectLst/>
                <a:uFillTx/>
                <a:latin typeface="Consolas"/>
                <a:ea typeface="Noto Sans CJK SC Regular"/>
              </a:rPr>
              <a:t>//error!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              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4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09EE6-D4C0-B91C-8898-B552A315D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>
            <a:extLst>
              <a:ext uri="{FF2B5EF4-FFF2-40B4-BE49-F238E27FC236}">
                <a16:creationId xmlns:a16="http://schemas.microsoft.com/office/drawing/2014/main" id="{4E4AF576-1289-5C23-F726-0DA0615F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Initializing references with L/Rvalue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>
            <a:extLst>
              <a:ext uri="{FF2B5EF4-FFF2-40B4-BE49-F238E27FC236}">
                <a16:creationId xmlns:a16="http://schemas.microsoft.com/office/drawing/2014/main" id="{B79C875F-3930-AC81-4192-471A6E973669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3ABD44A-C17F-496A-BEA4-CF1DBACF7A4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>
            <a:extLst>
              <a:ext uri="{FF2B5EF4-FFF2-40B4-BE49-F238E27FC236}">
                <a16:creationId xmlns:a16="http://schemas.microsoft.com/office/drawing/2014/main" id="{2541D07C-D005-9CC7-C763-D0751396CB8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380880" y="82296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non-const Reference - initialized only to a non const Lvalue.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 Regular"/>
              </a:rPr>
              <a:t>const reference –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initialized to both Lvalue and Rvalue</a:t>
            </a:r>
          </a:p>
          <a:p>
            <a:pPr indent="0">
              <a:lnSpc>
                <a:spcPct val="14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lv=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  <a:ea typeface="Noto Sans CJK SC Regular"/>
              </a:rPr>
              <a:t>1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;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const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clv=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  <a:ea typeface="Noto Sans CJK SC Regular"/>
              </a:rPr>
              <a:t>2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;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lvr1=lv;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lvr2=5; </a:t>
            </a:r>
            <a:r>
              <a:rPr lang="en-US" sz="2600" b="0" u="none" strike="noStrike">
                <a:solidFill>
                  <a:srgbClr val="FF0000"/>
                </a:solidFill>
                <a:effectLst/>
                <a:uFillTx/>
                <a:latin typeface="Consolas"/>
                <a:ea typeface="Noto Sans CJK SC Regular"/>
              </a:rPr>
              <a:t>//error!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lvr3=5+lv; </a:t>
            </a:r>
            <a:r>
              <a:rPr lang="en-US" sz="2600" b="0" u="none" strike="noStrike">
                <a:solidFill>
                  <a:srgbClr val="FF0000"/>
                </a:solidFill>
                <a:effectLst/>
                <a:uFillTx/>
                <a:latin typeface="Consolas"/>
                <a:ea typeface="Noto Sans CJK SC Regular"/>
              </a:rPr>
              <a:t>//error!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lvr4=clv;  </a:t>
            </a:r>
            <a:r>
              <a:rPr lang="en-US" sz="2600" b="0" u="none" strike="noStrike">
                <a:solidFill>
                  <a:srgbClr val="FF0000"/>
                </a:solidFill>
                <a:effectLst/>
                <a:uFillTx/>
                <a:latin typeface="Consolas"/>
                <a:ea typeface="Noto Sans CJK SC Regular"/>
              </a:rPr>
              <a:t>//error! prevents lvr4++;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const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cr1=clv;  // This is useful for </a:t>
            </a:r>
            <a:br>
              <a:rPr sz="2600"/>
            </a:b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const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  <a:ea typeface="Noto Sans CJK SC Regular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&amp; cr2=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  <a:ea typeface="Noto Sans CJK SC Regular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+</a:t>
            </a:r>
            <a:r>
              <a:rPr lang="en-US" sz="2600" b="0" u="none" strike="noStrike">
                <a:solidFill>
                  <a:srgbClr val="800080"/>
                </a:solidFill>
                <a:effectLst/>
                <a:uFillTx/>
                <a:latin typeface="Consolas"/>
                <a:ea typeface="Noto Sans CJK SC Regular"/>
              </a:rPr>
              <a:t>5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Noto Sans CJK SC Regular"/>
              </a:rPr>
              <a:t>;  // Functions arguments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4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              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4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מלבן 5">
            <a:extLst>
              <a:ext uri="{FF2B5EF4-FFF2-40B4-BE49-F238E27FC236}">
                <a16:creationId xmlns:a16="http://schemas.microsoft.com/office/drawing/2014/main" id="{94586A56-7C79-FFC5-9847-4E7D3152AB6A}"/>
              </a:ext>
            </a:extLst>
          </p:cNvPr>
          <p:cNvSpPr/>
          <p:nvPr/>
        </p:nvSpPr>
        <p:spPr>
          <a:xfrm>
            <a:off x="228960" y="4509586"/>
            <a:ext cx="8686440" cy="1218960"/>
          </a:xfrm>
          <a:prstGeom prst="rect">
            <a:avLst/>
          </a:prstGeom>
          <a:noFill/>
          <a:ln w="25560">
            <a:solidFill>
              <a:srgbClr val="00B0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12817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Passing arguments by const reference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7AE278F-E1E8-42CB-9FA7-C266316A32A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Pass by value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foo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Pass by pointer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foo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*pa)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Box 4"/>
          <p:cNvSpPr/>
          <p:nvPr/>
        </p:nvSpPr>
        <p:spPr>
          <a:xfrm>
            <a:off x="4381560" y="1076760"/>
            <a:ext cx="4562280" cy="429804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pass by ref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foo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&amp;a)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pass by const ref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foo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const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&amp;a)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Line 5"/>
          <p:cNvSpPr/>
          <p:nvPr/>
        </p:nvSpPr>
        <p:spPr>
          <a:xfrm>
            <a:off x="4381200" y="1143000"/>
            <a:ext cx="360" cy="26668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7"/>
          <p:cNvSpPr/>
          <p:nvPr/>
        </p:nvSpPr>
        <p:spPr>
          <a:xfrm>
            <a:off x="449280" y="5226120"/>
            <a:ext cx="8123040" cy="1399680"/>
          </a:xfrm>
          <a:prstGeom prst="rect">
            <a:avLst/>
          </a:prstGeom>
          <a:blipFill rotWithShape="0">
            <a:blip r:embed="rId2"/>
            <a:srcRect/>
            <a:tile tx="0" ty="0" sx="69982" sy="68571" algn="ctr"/>
          </a:blipFill>
          <a:ln w="936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360" tIns="44280" rIns="90360" bIns="44280" anchor="t">
            <a:noAutofit/>
          </a:bodyPr>
          <a:lstStyle/>
          <a:p>
            <a:pPr marL="285840" indent="-285480">
              <a:lnSpc>
                <a:spcPct val="9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Avoid copying objects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without allowing changes in their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Parameter passing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1EFF736-7B57-43ED-A506-A65D117B86B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68" name="Table 67"/>
          <p:cNvGraphicFramePr/>
          <p:nvPr/>
        </p:nvGraphicFramePr>
        <p:xfrm>
          <a:off x="395280" y="963720"/>
          <a:ext cx="8519760" cy="4483680"/>
        </p:xfrm>
        <a:graphic>
          <a:graphicData uri="http://schemas.openxmlformats.org/drawingml/2006/table">
            <a:tbl>
              <a:tblPr/>
              <a:tblGrid>
                <a:gridCol w="283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86680"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By value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By reference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By const reference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680"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void f (Big x) {…}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Noto Sans CJK SC Regular"/>
                        </a:rPr>
                        <a:t>void f (</a:t>
                      </a: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Big&amp; x) {…} 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Noto Sans CJK SC Regular"/>
                        </a:rPr>
                        <a:t>void f (const </a:t>
                      </a: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Big&amp; x) {…} 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320"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 is copied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 is not copied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 is not copied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5760"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Compiler lets f modify x, but changes have no effect outside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999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 can modify x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compiler does not let f modify x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3"/>
          <p:cNvSpPr/>
          <p:nvPr/>
        </p:nvSpPr>
        <p:spPr>
          <a:xfrm>
            <a:off x="308160" y="228600"/>
            <a:ext cx="8606880" cy="623412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add(Point&amp; a, Point b)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	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 is reference, b is a copy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a._x += b._x;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	a._y += b._y;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	Point p1(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2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p2(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	add(p1,p2);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note: we don’t send pointers!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		     // p1 is now (6,8)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	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sldNum" idx="2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EFB071B-DFF4-4697-9634-4F86961DB86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914400" y="2209680"/>
            <a:ext cx="7772040" cy="457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152280" y="14760"/>
            <a:ext cx="8838720" cy="667296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void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add(Point&amp; a,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const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Point&amp; b)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 is reference,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b is a const ref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a._x+= b._x;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a._y+= b._y;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Point p1(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2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p2(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add(p1,p2);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note: we dont send pointers!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		// p1 is now (6,8)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...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ular Callout 4"/>
          <p:cNvSpPr/>
          <p:nvPr/>
        </p:nvSpPr>
        <p:spPr>
          <a:xfrm>
            <a:off x="4572000" y="1219320"/>
            <a:ext cx="4754880" cy="1800000"/>
          </a:xfrm>
          <a:prstGeom prst="wedgeRoundRectCallout">
            <a:avLst>
              <a:gd name="adj1" fmla="val -55746"/>
              <a:gd name="adj2" fmla="val -91286"/>
              <a:gd name="adj3" fmla="val 16667"/>
            </a:avLst>
          </a:prstGeom>
          <a:solidFill>
            <a:srgbClr val="D34817"/>
          </a:solidFill>
          <a:ln w="12600">
            <a:solidFill>
              <a:srgbClr val="9C35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343080" indent="-34272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 is Reference =&gt; is not copied</a:t>
            </a:r>
          </a:p>
          <a:p>
            <a:pPr marL="343080" indent="-34272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 is Const       =&gt; we can't change it</a:t>
            </a:r>
          </a:p>
          <a:p>
            <a:pPr marL="343080" indent="-34272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Important for large objects!</a:t>
            </a:r>
          </a:p>
        </p:txBody>
      </p:sp>
      <p:sp>
        <p:nvSpPr>
          <p:cNvPr id="74" name="PlaceHolder 2"/>
          <p:cNvSpPr>
            <a:spLocks noGrp="1"/>
          </p:cNvSpPr>
          <p:nvPr>
            <p:ph type="sldNum" idx="2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B8E162C-30E9-4423-AA67-1CF9802CBE1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Return a reference to variable</a:t>
            </a:r>
            <a:r>
              <a:rPr lang="en-US" sz="40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2)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A71F048-E0A1-4FBC-B744-A9CA24D7D39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04920" y="106668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Buffer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_length;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*_buf;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Buffer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l) 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_length (l),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_buf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[l])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}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&amp; get(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_buf[i];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}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Box 4"/>
          <p:cNvSpPr/>
          <p:nvPr/>
        </p:nvSpPr>
        <p:spPr>
          <a:xfrm>
            <a:off x="4381560" y="1143000"/>
            <a:ext cx="4562280" cy="3346560"/>
          </a:xfrm>
          <a:prstGeom prst="rect">
            <a:avLst/>
          </a:prstGeom>
          <a:noFill/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 ()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Buffer buf(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buf.get(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)=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int&amp; x = buf.get(0);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x++;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Line 5"/>
          <p:cNvSpPr/>
          <p:nvPr/>
        </p:nvSpPr>
        <p:spPr>
          <a:xfrm>
            <a:off x="4381200" y="1143000"/>
            <a:ext cx="360" cy="26668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4648320" y="4724280"/>
            <a:ext cx="3924000" cy="1901520"/>
          </a:xfrm>
          <a:prstGeom prst="rect">
            <a:avLst/>
          </a:prstGeom>
          <a:blipFill rotWithShape="0">
            <a:blip r:embed="rId2"/>
            <a:srcRect/>
            <a:tile tx="0" ty="0" sx="69982" sy="68571" algn="ctr"/>
          </a:blipFill>
          <a:ln w="936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360" tIns="44280" rIns="90360" bIns="4428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a ref. to a legal variable (e.g. not on the function stack).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Return a reference from a function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2)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6840">
              <a:lnSpc>
                <a:spcPct val="10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Don’t return a reference to a local variable.</a:t>
            </a:r>
          </a:p>
          <a:p>
            <a:pPr marL="457200" indent="-456840">
              <a:lnSpc>
                <a:spcPct val="10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return a reference to a variable that will survive the function call, e.g: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heap variable (allocated with new).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Globals.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 members.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*this (Useful for call-chaining).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sldNum" idx="2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0C44EE79-0B89-416D-9D09-C3946EF3AA7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6"/>
          <p:cNvSpPr/>
          <p:nvPr/>
        </p:nvSpPr>
        <p:spPr>
          <a:xfrm>
            <a:off x="152280" y="0"/>
            <a:ext cx="8762760" cy="659988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Point&amp; add(Point&amp; a,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const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Point&amp; b) {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a._x+=b._x;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a._y+=b._y;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Point p1(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2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p2(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p3(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add(add(p1,p2),p3);         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now p1 is (7,9)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cout &lt;&lt; add(p1,p2).getX();  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note the syntax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...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 type="sldNum" idx="2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904B6D0-28D4-4525-8849-61F7275AFC3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Call chaining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6"/>
          <p:cNvSpPr/>
          <p:nvPr/>
        </p:nvSpPr>
        <p:spPr>
          <a:xfrm>
            <a:off x="198360" y="0"/>
            <a:ext cx="8762760" cy="7038720"/>
          </a:xfrm>
          <a:prstGeom prst="rect">
            <a:avLst/>
          </a:prstGeom>
          <a:solidFill>
            <a:srgbClr val="FFFFFF"/>
          </a:solidFill>
          <a:ln w="12600">
            <a:solidFill>
              <a:srgbClr val="A6A1A1"/>
            </a:solidFill>
            <a:round/>
          </a:ln>
          <a:effectLst>
            <a:outerShdw dist="28080" dir="5400000" rotWithShape="0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class Point {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int x, y;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Point&amp; add (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const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Point&amp; b) {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  this-&gt;x += b.x; 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  y += b.y;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 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return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*this;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Point p1(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2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3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p2(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), p3(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);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p1.add(p2).add(p3);  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now p1 is (7,9) 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cout &lt;&lt; p1.add(p2).getX();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...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sldNum" idx="2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975C0E2-5F1B-48E3-952C-C2FE9EE4D0C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Call chaining (2)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40115</TotalTime>
  <Words>1491</Words>
  <Application>Microsoft Office PowerPoint</Application>
  <PresentationFormat>On-screen Show (4:3)</PresentationFormat>
  <Paragraphs>157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Consolas</vt:lpstr>
      <vt:lpstr>Symbol</vt:lpstr>
      <vt:lpstr>Times New Roman</vt:lpstr>
      <vt:lpstr>Wingdings</vt:lpstr>
      <vt:lpstr>Wingdings 2</vt:lpstr>
      <vt:lpstr>Office</vt:lpstr>
      <vt:lpstr>Reference variables</vt:lpstr>
      <vt:lpstr>Why references?</vt:lpstr>
      <vt:lpstr>References – two definitions</vt:lpstr>
      <vt:lpstr>Pointer vs. Reference  (folder 1)</vt:lpstr>
      <vt:lpstr>Three ways to pass arguments</vt:lpstr>
      <vt:lpstr>Lvalue &amp; Rvalue</vt:lpstr>
      <vt:lpstr>Lvalue &amp; Rvalue</vt:lpstr>
      <vt:lpstr>Initializing references with L/Rvalue</vt:lpstr>
      <vt:lpstr>Initializing references with L/Rvalue</vt:lpstr>
      <vt:lpstr>Passing arguments by const reference</vt:lpstr>
      <vt:lpstr>Parameter passing</vt:lpstr>
      <vt:lpstr>PowerPoint Presentation</vt:lpstr>
      <vt:lpstr>PowerPoint Presentation</vt:lpstr>
      <vt:lpstr>Return a reference to variable (folder 2)</vt:lpstr>
      <vt:lpstr>Return a reference from a function (folder 2)</vt:lpstr>
      <vt:lpstr>Call chaining</vt:lpstr>
      <vt:lpstr>Call chaining (2)</vt:lpstr>
    </vt:vector>
  </TitlesOfParts>
  <Company>Institute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</dc:title>
  <dc:subject/>
  <dc:creator>zomet</dc:creator>
  <dc:description/>
  <cp:lastModifiedBy>Erel Segal-Halevi</cp:lastModifiedBy>
  <cp:revision>1205</cp:revision>
  <cp:lastPrinted>1999-11-04T13:06:28Z</cp:lastPrinted>
  <dcterms:created xsi:type="dcterms:W3CDTF">1999-10-10T10:49:40Z</dcterms:created>
  <dcterms:modified xsi:type="dcterms:W3CDTF">2026-03-30T07:24:00Z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Color">
    <vt:r8>15132390</vt:r8>
  </property>
  <property fmtid="{D5CDD505-2E9C-101B-9397-08002B2CF9AE}" pid="3" name="ButtonType">
    <vt:r8>1</vt:r8>
  </property>
  <property fmtid="{D5CDD505-2E9C-101B-9397-08002B2CF9AE}" pid="4" name="Compression">
    <vt:r8>100</vt:r8>
  </property>
  <property fmtid="{D5CDD505-2E9C-101B-9397-08002B2CF9AE}" pid="5" name="DownloadIEButton">
    <vt:bool>false</vt:bool>
  </property>
  <property fmtid="{D5CDD505-2E9C-101B-9397-08002B2CF9AE}" pid="6" name="DownloadOriginal">
    <vt:bool>true</vt:bool>
  </property>
  <property fmtid="{D5CDD505-2E9C-101B-9397-08002B2CF9AE}" pid="7" name="GraphicType">
    <vt:r8>1</vt:r8>
  </property>
  <property fmtid="{D5CDD505-2E9C-101B-9397-08002B2CF9AE}" pid="8" name="HiddenSlides">
    <vt:r8>0</vt:r8>
  </property>
  <property fmtid="{D5CDD505-2E9C-101B-9397-08002B2CF9AE}" pid="9" name="HomePage">
    <vt:lpwstr>http://www.cs.huji.ac.il/~plab</vt:lpwstr>
  </property>
  <property fmtid="{D5CDD505-2E9C-101B-9397-08002B2CF9AE}" pid="10" name="HyperlinksChanged">
    <vt:bool>false</vt:bool>
  </property>
  <property fmtid="{D5CDD505-2E9C-101B-9397-08002B2CF9AE}" pid="11" name="LinkColor">
    <vt:r8>16711782</vt:r8>
  </property>
  <property fmtid="{D5CDD505-2E9C-101B-9397-08002B2CF9AE}" pid="12" name="LinksUpToDate">
    <vt:bool>false</vt:bool>
  </property>
  <property fmtid="{D5CDD505-2E9C-101B-9397-08002B2CF9AE}" pid="13" name="MMClips">
    <vt:r8>0</vt:r8>
  </property>
  <property fmtid="{D5CDD505-2E9C-101B-9397-08002B2CF9AE}" pid="14" name="MailAddress">
    <vt:lpwstr>plab@cs.huji.ac.il</vt:lpwstr>
  </property>
  <property fmtid="{D5CDD505-2E9C-101B-9397-08002B2CF9AE}" pid="15" name="NavBtnPos">
    <vt:r8>1</vt:r8>
  </property>
  <property fmtid="{D5CDD505-2E9C-101B-9397-08002B2CF9AE}" pid="16" name="Notes">
    <vt:r8>7</vt:r8>
  </property>
  <property fmtid="{D5CDD505-2E9C-101B-9397-08002B2CF9AE}" pid="17" name="Other">
    <vt:lpwstr/>
  </property>
  <property fmtid="{D5CDD505-2E9C-101B-9397-08002B2CF9AE}" pid="18" name="OutputDir">
    <vt:lpwstr>c:\temp</vt:lpwstr>
  </property>
  <property fmtid="{D5CDD505-2E9C-101B-9397-08002B2CF9AE}" pid="19" name="PresentationFormat">
    <vt:lpwstr>On-screen Show (4:3)</vt:lpwstr>
  </property>
  <property fmtid="{D5CDD505-2E9C-101B-9397-08002B2CF9AE}" pid="20" name="ScaleCrop">
    <vt:bool>false</vt:bool>
  </property>
  <property fmtid="{D5CDD505-2E9C-101B-9397-08002B2CF9AE}" pid="21" name="ScreenSize">
    <vt:r8>2</vt:r8>
  </property>
  <property fmtid="{D5CDD505-2E9C-101B-9397-08002B2CF9AE}" pid="22" name="ScreenUsage">
    <vt:r8>1</vt:r8>
  </property>
  <property fmtid="{D5CDD505-2E9C-101B-9397-08002B2CF9AE}" pid="23" name="ShareDoc">
    <vt:bool>false</vt:bool>
  </property>
  <property fmtid="{D5CDD505-2E9C-101B-9397-08002B2CF9AE}" pid="24" name="ShowNotes">
    <vt:bool>false</vt:bool>
  </property>
  <property fmtid="{D5CDD505-2E9C-101B-9397-08002B2CF9AE}" pid="25" name="Slides">
    <vt:r8>45</vt:r8>
  </property>
  <property fmtid="{D5CDD505-2E9C-101B-9397-08002B2CF9AE}" pid="26" name="TemplateType">
    <vt:r8>1</vt:r8>
  </property>
  <property fmtid="{D5CDD505-2E9C-101B-9397-08002B2CF9AE}" pid="27" name="TextColor">
    <vt:r8>0</vt:r8>
  </property>
  <property fmtid="{D5CDD505-2E9C-101B-9397-08002B2CF9AE}" pid="28" name="TransparentButton">
    <vt:r8>0</vt:r8>
  </property>
  <property fmtid="{D5CDD505-2E9C-101B-9397-08002B2CF9AE}" pid="29" name="UseBrowserColor">
    <vt:bool>true</vt:bool>
  </property>
  <property fmtid="{D5CDD505-2E9C-101B-9397-08002B2CF9AE}" pid="30" name="VisitedColor">
    <vt:r8>10040268</vt:r8>
  </property>
</Properties>
</file>